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72" r:id="rId4"/>
    <p:sldId id="273" r:id="rId5"/>
    <p:sldId id="261" r:id="rId6"/>
    <p:sldId id="274" r:id="rId7"/>
    <p:sldId id="275" r:id="rId8"/>
    <p:sldId id="269" r:id="rId9"/>
    <p:sldId id="276" r:id="rId10"/>
    <p:sldId id="277" r:id="rId11"/>
    <p:sldId id="270" r:id="rId12"/>
    <p:sldId id="271" r:id="rId13"/>
    <p:sldId id="281" r:id="rId14"/>
    <p:sldId id="265" r:id="rId15"/>
    <p:sldId id="278" r:id="rId16"/>
    <p:sldId id="279" r:id="rId17"/>
    <p:sldId id="280" r:id="rId1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E4C1F5-BE37-4225-9D18-7D96A7077C7A}" v="82" dt="2026-02-18T13:46:42.96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7759A5D-1970-41D1-9448-F7457F79E3A7}" type="datetimeFigureOut">
              <a:rPr lang="en-IN" smtClean="0"/>
              <a:pPr/>
              <a:t>20-04-2026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E8263BB-9A71-4D54-8BA0-1FC02A1A7267}" type="slidenum">
              <a:rPr lang="en-IN" smtClean="0"/>
              <a:pPr/>
              <a:t>‹#›</a:t>
            </a:fld>
            <a:endParaRPr lang="en-IN"/>
          </a:p>
        </p:txBody>
      </p:sp>
    </p:spTree>
    <p:extLst>
      <p:ext uri="{BB962C8B-B14F-4D97-AF65-F5344CB8AC3E}">
        <p14:creationId xmlns:p14="http://schemas.microsoft.com/office/powerpoint/2010/main" val="1461279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8263BB-9A71-4D54-8BA0-1FC02A1A7267}" type="slidenum">
              <a:rPr lang="en-IN" smtClean="0"/>
              <a:pPr/>
              <a:t>15</a:t>
            </a:fld>
            <a:endParaRPr lang="en-IN"/>
          </a:p>
        </p:txBody>
      </p:sp>
    </p:spTree>
    <p:extLst>
      <p:ext uri="{BB962C8B-B14F-4D97-AF65-F5344CB8AC3E}">
        <p14:creationId xmlns:p14="http://schemas.microsoft.com/office/powerpoint/2010/main" val="2219611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37A60BB-C378-4DA9-8C76-72492A741B6A}" type="datetime1">
              <a:rPr lang="en-US" smtClean="0"/>
              <a:pPr/>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C9431E3-0B17-40C3-AC57-33612052C18D}" type="datetime1">
              <a:rPr lang="en-US" smtClean="0"/>
              <a:pPr/>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52D76C82-2FA9-48CE-B8A2-7F21FCF0B448}" type="datetime1">
              <a:rPr lang="en-US" smtClean="0"/>
              <a:pPr/>
              <a:t>4/20/2026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26B346D-393F-448F-AE25-D8B18B9285C4}" type="datetime1">
              <a:rPr lang="en-US" smtClean="0"/>
              <a:pPr/>
              <a:t>4/20/2026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86D9FCC4-73DF-4520-B262-AC94775C9E2E}" type="datetime1">
              <a:rPr lang="en-US" smtClean="0"/>
              <a:pPr/>
              <a:t>4/20/2026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957194" y="640207"/>
            <a:ext cx="6277610" cy="627380"/>
          </a:xfrm>
          <a:prstGeom prst="rect">
            <a:avLst/>
          </a:prstGeom>
        </p:spPr>
        <p:txBody>
          <a:bodyPr wrap="square" lIns="0" tIns="0" rIns="0" bIns="0">
            <a:spAutoFit/>
          </a:bodyPr>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3891" y="1706118"/>
            <a:ext cx="10364216" cy="357759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FD7E29CF-C4D2-4C69-836B-8FBB5F048E17}" type="datetime1">
              <a:rPr lang="en-US" smtClean="0"/>
              <a:pPr/>
              <a:t>4/20/2026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 Id="rId5" Type="http://schemas.openxmlformats.org/officeDocument/2006/relationships/image" Target="../media/image11.jp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 name="Picture 8" descr="ppt-2.jpg">
            <a:extLst>
              <a:ext uri="{FF2B5EF4-FFF2-40B4-BE49-F238E27FC236}">
                <a16:creationId xmlns:a16="http://schemas.microsoft.com/office/drawing/2014/main" id="{577986D2-C05A-42C0-8936-909548692FBE}"/>
              </a:ext>
            </a:extLst>
          </p:cNvPr>
          <p:cNvPicPr>
            <a:picLocks noChangeAspect="1"/>
          </p:cNvPicPr>
          <p:nvPr/>
        </p:nvPicPr>
        <p:blipFill>
          <a:blip r:embed="rId2"/>
          <a:srcRect/>
          <a:stretch>
            <a:fillRect/>
          </a:stretch>
        </p:blipFill>
        <p:spPr bwMode="auto">
          <a:xfrm>
            <a:off x="9525" y="11885"/>
            <a:ext cx="11433176" cy="761999"/>
          </a:xfrm>
          <a:prstGeom prst="rect">
            <a:avLst/>
          </a:prstGeom>
          <a:noFill/>
          <a:ln w="9525">
            <a:noFill/>
            <a:miter lim="800000"/>
            <a:headEnd/>
            <a:tailEnd/>
          </a:ln>
        </p:spPr>
      </p:pic>
      <p:sp>
        <p:nvSpPr>
          <p:cNvPr id="11" name="object 11"/>
          <p:cNvSpPr txBox="1"/>
          <p:nvPr/>
        </p:nvSpPr>
        <p:spPr>
          <a:xfrm>
            <a:off x="476147" y="4191000"/>
            <a:ext cx="5314975" cy="2053125"/>
          </a:xfrm>
          <a:prstGeom prst="rect">
            <a:avLst/>
          </a:prstGeom>
        </p:spPr>
        <p:txBody>
          <a:bodyPr vert="horz" wrap="square" lIns="0" tIns="123189" rIns="0" bIns="0" rtlCol="0">
            <a:spAutoFit/>
          </a:bodyPr>
          <a:lstStyle/>
          <a:p>
            <a:pPr marL="12700">
              <a:spcBef>
                <a:spcPts val="969"/>
              </a:spcBef>
            </a:pPr>
            <a:r>
              <a:rPr lang="en-US" sz="2000" b="1">
                <a:latin typeface="Times New Roman"/>
                <a:cs typeface="Times New Roman"/>
              </a:rPr>
              <a:t>INTERNAL </a:t>
            </a:r>
            <a:r>
              <a:rPr sz="2000" b="1">
                <a:latin typeface="Times New Roman"/>
                <a:cs typeface="Times New Roman"/>
              </a:rPr>
              <a:t>GUIDE</a:t>
            </a:r>
            <a:r>
              <a:rPr lang="en-US" sz="2000" b="1" spc="-30">
                <a:latin typeface="Times New Roman"/>
                <a:cs typeface="Times New Roman"/>
              </a:rPr>
              <a:t> </a:t>
            </a:r>
            <a:r>
              <a:rPr sz="1800" b="1" spc="-5">
                <a:latin typeface="Times New Roman"/>
                <a:cs typeface="Times New Roman"/>
              </a:rPr>
              <a:t>N</a:t>
            </a:r>
            <a:r>
              <a:rPr sz="1800" b="1" spc="-15">
                <a:latin typeface="Times New Roman"/>
                <a:cs typeface="Times New Roman"/>
              </a:rPr>
              <a:t>A</a:t>
            </a:r>
            <a:r>
              <a:rPr sz="1800" b="1">
                <a:latin typeface="Times New Roman"/>
                <a:cs typeface="Times New Roman"/>
              </a:rPr>
              <a:t>M</a:t>
            </a:r>
            <a:r>
              <a:rPr sz="1800" b="1" spc="5">
                <a:latin typeface="Times New Roman"/>
                <a:cs typeface="Times New Roman"/>
              </a:rPr>
              <a:t>E</a:t>
            </a:r>
            <a:r>
              <a:rPr lang="en-IN" sz="1800" b="1" spc="5">
                <a:latin typeface="Times New Roman"/>
                <a:cs typeface="Times New Roman"/>
              </a:rPr>
              <a:t> </a:t>
            </a:r>
            <a:r>
              <a:rPr sz="1800" b="1">
                <a:latin typeface="Times New Roman"/>
                <a:cs typeface="Times New Roman"/>
              </a:rPr>
              <a:t>:</a:t>
            </a:r>
            <a:r>
              <a:rPr sz="1800" b="1" spc="-90">
                <a:latin typeface="Times New Roman"/>
                <a:cs typeface="Times New Roman"/>
              </a:rPr>
              <a:t> </a:t>
            </a:r>
            <a:r>
              <a:rPr lang="en-IN" b="1" spc="-90">
                <a:latin typeface="Times New Roman"/>
                <a:cs typeface="Times New Roman"/>
              </a:rPr>
              <a:t> </a:t>
            </a:r>
            <a:r>
              <a:rPr lang="en-IN" b="1" spc="-90">
                <a:latin typeface="Times New Roman" panose="02020603050405020304" pitchFamily="18" charset="0"/>
                <a:cs typeface="Times New Roman" panose="02020603050405020304" pitchFamily="18" charset="0"/>
              </a:rPr>
              <a:t>Dr. N. Sujitha</a:t>
            </a:r>
          </a:p>
          <a:p>
            <a:pPr marL="12700">
              <a:spcBef>
                <a:spcPts val="969"/>
              </a:spcBef>
            </a:pPr>
            <a:r>
              <a:rPr sz="1800" b="1" spc="-55">
                <a:latin typeface="Times New Roman"/>
                <a:cs typeface="Times New Roman"/>
              </a:rPr>
              <a:t>DESI</a:t>
            </a:r>
            <a:r>
              <a:rPr sz="1800" b="1" spc="-50">
                <a:latin typeface="Times New Roman"/>
                <a:cs typeface="Times New Roman"/>
              </a:rPr>
              <a:t>G</a:t>
            </a:r>
            <a:r>
              <a:rPr sz="1800" b="1" spc="-55">
                <a:latin typeface="Times New Roman"/>
                <a:cs typeface="Times New Roman"/>
              </a:rPr>
              <a:t>NATI</a:t>
            </a:r>
            <a:r>
              <a:rPr sz="1800" b="1" spc="-50">
                <a:latin typeface="Times New Roman"/>
                <a:cs typeface="Times New Roman"/>
              </a:rPr>
              <a:t>ON</a:t>
            </a:r>
            <a:r>
              <a:rPr sz="1800">
                <a:latin typeface="Times New Roman"/>
                <a:cs typeface="Times New Roman"/>
              </a:rPr>
              <a:t>:</a:t>
            </a:r>
            <a:r>
              <a:rPr lang="en-IN" sz="1800">
                <a:latin typeface="Times New Roman"/>
                <a:cs typeface="Times New Roman"/>
              </a:rPr>
              <a:t> </a:t>
            </a:r>
            <a:r>
              <a:rPr lang="en-IN" sz="1800" b="1">
                <a:latin typeface="Times New Roman"/>
                <a:cs typeface="Times New Roman"/>
              </a:rPr>
              <a:t>Asst. Professor </a:t>
            </a:r>
          </a:p>
          <a:p>
            <a:pPr marL="12700">
              <a:spcBef>
                <a:spcPts val="969"/>
              </a:spcBef>
            </a:pPr>
            <a:r>
              <a:rPr lang="en-US" b="1">
                <a:latin typeface="Times New Roman"/>
                <a:cs typeface="Times New Roman"/>
              </a:rPr>
              <a:t>EXTERNAL GUIDE</a:t>
            </a:r>
            <a:r>
              <a:rPr lang="en-US" b="1" spc="-30">
                <a:latin typeface="Times New Roman"/>
                <a:cs typeface="Times New Roman"/>
              </a:rPr>
              <a:t> </a:t>
            </a:r>
            <a:r>
              <a:rPr lang="en-US" sz="1600" b="1" spc="-5">
                <a:latin typeface="Times New Roman"/>
                <a:cs typeface="Times New Roman"/>
              </a:rPr>
              <a:t>N</a:t>
            </a:r>
            <a:r>
              <a:rPr lang="en-US" sz="1600" b="1" spc="-15">
                <a:latin typeface="Times New Roman"/>
                <a:cs typeface="Times New Roman"/>
              </a:rPr>
              <a:t>A</a:t>
            </a:r>
            <a:r>
              <a:rPr lang="en-US" sz="1600" b="1">
                <a:latin typeface="Times New Roman"/>
                <a:cs typeface="Times New Roman"/>
              </a:rPr>
              <a:t>M</a:t>
            </a:r>
            <a:r>
              <a:rPr lang="en-US" sz="1600" b="1" spc="5">
                <a:latin typeface="Times New Roman"/>
                <a:cs typeface="Times New Roman"/>
              </a:rPr>
              <a:t>E : Arumugam </a:t>
            </a:r>
          </a:p>
          <a:p>
            <a:pPr marL="12700">
              <a:spcBef>
                <a:spcPts val="969"/>
              </a:spcBef>
            </a:pPr>
            <a:r>
              <a:rPr lang="en-IN" sz="1600" b="1" spc="-55">
                <a:latin typeface="Times New Roman"/>
                <a:cs typeface="Times New Roman"/>
              </a:rPr>
              <a:t>DESI</a:t>
            </a:r>
            <a:r>
              <a:rPr lang="en-IN" sz="1600" b="1" spc="-50">
                <a:latin typeface="Times New Roman"/>
                <a:cs typeface="Times New Roman"/>
              </a:rPr>
              <a:t>G</a:t>
            </a:r>
            <a:r>
              <a:rPr lang="en-IN" sz="1600" b="1" spc="-55">
                <a:latin typeface="Times New Roman"/>
                <a:cs typeface="Times New Roman"/>
              </a:rPr>
              <a:t>NATI</a:t>
            </a:r>
            <a:r>
              <a:rPr lang="en-IN" sz="1600" b="1" spc="-50">
                <a:latin typeface="Times New Roman"/>
                <a:cs typeface="Times New Roman"/>
              </a:rPr>
              <a:t>ON</a:t>
            </a:r>
            <a:r>
              <a:rPr lang="en-IN" sz="1600">
                <a:latin typeface="Times New Roman"/>
                <a:cs typeface="Times New Roman"/>
              </a:rPr>
              <a:t>: </a:t>
            </a:r>
            <a:r>
              <a:rPr lang="en-IN" sz="1600" b="1">
                <a:latin typeface="Times New Roman"/>
                <a:cs typeface="Times New Roman"/>
              </a:rPr>
              <a:t>Head of Operations</a:t>
            </a:r>
            <a:endParaRPr lang="en-US" sz="1600" b="1" spc="5">
              <a:latin typeface="Times New Roman"/>
              <a:cs typeface="Times New Roman"/>
            </a:endParaRPr>
          </a:p>
          <a:p>
            <a:pPr marL="12700">
              <a:spcBef>
                <a:spcPts val="969"/>
              </a:spcBef>
            </a:pPr>
            <a:endParaRPr sz="1800" b="1">
              <a:latin typeface="Times New Roman"/>
              <a:cs typeface="Times New Roman"/>
            </a:endParaRPr>
          </a:p>
        </p:txBody>
      </p:sp>
      <p:pic>
        <p:nvPicPr>
          <p:cNvPr id="14" name="object 14"/>
          <p:cNvPicPr/>
          <p:nvPr/>
        </p:nvPicPr>
        <p:blipFill>
          <a:blip r:embed="rId3" cstate="print"/>
          <a:stretch>
            <a:fillRect/>
          </a:stretch>
        </p:blipFill>
        <p:spPr>
          <a:xfrm>
            <a:off x="11442701" y="55731"/>
            <a:ext cx="758824" cy="718154"/>
          </a:xfrm>
          <a:prstGeom prst="rect">
            <a:avLst/>
          </a:prstGeom>
        </p:spPr>
      </p:pic>
      <p:sp>
        <p:nvSpPr>
          <p:cNvPr id="18" name="TextBox 17">
            <a:extLst>
              <a:ext uri="{FF2B5EF4-FFF2-40B4-BE49-F238E27FC236}">
                <a16:creationId xmlns:a16="http://schemas.microsoft.com/office/drawing/2014/main" id="{758BA97B-D088-AC3B-62BB-C21604F2EA35}"/>
              </a:ext>
            </a:extLst>
          </p:cNvPr>
          <p:cNvSpPr txBox="1"/>
          <p:nvPr/>
        </p:nvSpPr>
        <p:spPr>
          <a:xfrm>
            <a:off x="304800" y="2438400"/>
            <a:ext cx="11433176" cy="954107"/>
          </a:xfrm>
          <a:prstGeom prst="rect">
            <a:avLst/>
          </a:prstGeom>
          <a:noFill/>
        </p:spPr>
        <p:txBody>
          <a:bodyPr wrap="square">
            <a:spAutoFit/>
          </a:bodyPr>
          <a:lstStyle/>
          <a:p>
            <a:pPr marL="311785" algn="ctr">
              <a:lnSpc>
                <a:spcPct val="100000"/>
              </a:lnSpc>
            </a:pPr>
            <a:r>
              <a:rPr lang="en-US" sz="2400" b="1" dirty="0">
                <a:latin typeface="Times New Roman" panose="02020603050405020304" pitchFamily="18" charset="0"/>
                <a:cs typeface="Times New Roman" panose="02020603050405020304" pitchFamily="18" charset="0"/>
              </a:rPr>
              <a:t>TITLE</a:t>
            </a:r>
            <a:r>
              <a:rPr lang="en-US" sz="2800" b="1" dirty="0">
                <a:latin typeface="Times New Roman" panose="02020603050405020304" pitchFamily="18" charset="0"/>
                <a:cs typeface="Times New Roman" panose="02020603050405020304" pitchFamily="18" charset="0"/>
              </a:rPr>
              <a:t>: </a:t>
            </a:r>
            <a:r>
              <a:rPr lang="en-US" sz="2800" spc="-75" dirty="0">
                <a:latin typeface="Times New Roman" panose="02020603050405020304" pitchFamily="18" charset="0"/>
                <a:cs typeface="Times New Roman" panose="02020603050405020304" pitchFamily="18" charset="0"/>
              </a:rPr>
              <a:t>Motor</a:t>
            </a:r>
            <a:r>
              <a:rPr lang="en-US" sz="2800" spc="-40" dirty="0">
                <a:latin typeface="Times New Roman" panose="02020603050405020304" pitchFamily="18" charset="0"/>
                <a:cs typeface="Times New Roman" panose="02020603050405020304" pitchFamily="18" charset="0"/>
              </a:rPr>
              <a:t> </a:t>
            </a:r>
            <a:r>
              <a:rPr lang="en-US" sz="2800" spc="-80" dirty="0">
                <a:latin typeface="Times New Roman" panose="02020603050405020304" pitchFamily="18" charset="0"/>
                <a:cs typeface="Times New Roman" panose="02020603050405020304" pitchFamily="18" charset="0"/>
              </a:rPr>
              <a:t>Fault</a:t>
            </a:r>
            <a:r>
              <a:rPr lang="en-US" sz="2800" spc="-45" dirty="0">
                <a:latin typeface="Times New Roman" panose="02020603050405020304" pitchFamily="18" charset="0"/>
                <a:cs typeface="Times New Roman" panose="02020603050405020304" pitchFamily="18" charset="0"/>
              </a:rPr>
              <a:t> </a:t>
            </a:r>
            <a:r>
              <a:rPr lang="en-US" sz="2800" spc="-75" dirty="0">
                <a:latin typeface="Times New Roman" panose="02020603050405020304" pitchFamily="18" charset="0"/>
                <a:cs typeface="Times New Roman" panose="02020603050405020304" pitchFamily="18" charset="0"/>
              </a:rPr>
              <a:t>Detection</a:t>
            </a:r>
            <a:r>
              <a:rPr lang="en-US" sz="2800" spc="-55" dirty="0">
                <a:latin typeface="Times New Roman" panose="02020603050405020304" pitchFamily="18" charset="0"/>
                <a:cs typeface="Times New Roman" panose="02020603050405020304" pitchFamily="18" charset="0"/>
              </a:rPr>
              <a:t> </a:t>
            </a:r>
            <a:r>
              <a:rPr lang="en-US" sz="2800" spc="-60" dirty="0">
                <a:latin typeface="Times New Roman" panose="02020603050405020304" pitchFamily="18" charset="0"/>
                <a:cs typeface="Times New Roman" panose="02020603050405020304" pitchFamily="18" charset="0"/>
              </a:rPr>
              <a:t>Using</a:t>
            </a:r>
            <a:r>
              <a:rPr lang="en-US" sz="2800" spc="-80" dirty="0">
                <a:latin typeface="Times New Roman" panose="02020603050405020304" pitchFamily="18" charset="0"/>
                <a:cs typeface="Times New Roman" panose="02020603050405020304" pitchFamily="18" charset="0"/>
              </a:rPr>
              <a:t> </a:t>
            </a:r>
            <a:r>
              <a:rPr lang="en-US" sz="2800" spc="-95" dirty="0">
                <a:latin typeface="Times New Roman" panose="02020603050405020304" pitchFamily="18" charset="0"/>
                <a:cs typeface="Times New Roman" panose="02020603050405020304" pitchFamily="18" charset="0"/>
              </a:rPr>
              <a:t>Vibration</a:t>
            </a:r>
            <a:r>
              <a:rPr lang="en-US" sz="2800" spc="-55" dirty="0">
                <a:latin typeface="Times New Roman" panose="02020603050405020304" pitchFamily="18" charset="0"/>
                <a:cs typeface="Times New Roman" panose="02020603050405020304" pitchFamily="18" charset="0"/>
              </a:rPr>
              <a:t> </a:t>
            </a:r>
            <a:r>
              <a:rPr lang="en-US" sz="2800" spc="-10" dirty="0">
                <a:latin typeface="Times New Roman" panose="02020603050405020304" pitchFamily="18" charset="0"/>
                <a:cs typeface="Times New Roman" panose="02020603050405020304" pitchFamily="18" charset="0"/>
              </a:rPr>
              <a:t>Analysis </a:t>
            </a:r>
          </a:p>
          <a:p>
            <a:pPr marL="311785" algn="ctr">
              <a:lnSpc>
                <a:spcPct val="100000"/>
              </a:lnSpc>
            </a:pPr>
            <a:r>
              <a:rPr lang="en-US" sz="2800" spc="-10" dirty="0">
                <a:latin typeface="Times New Roman" panose="02020603050405020304" pitchFamily="18" charset="0"/>
                <a:cs typeface="Times New Roman" panose="02020603050405020304" pitchFamily="18" charset="0"/>
              </a:rPr>
              <a:t>and Machine Learning</a:t>
            </a:r>
            <a:endParaRPr lang="en-US" sz="2800" dirty="0">
              <a:latin typeface="Times New Roman" panose="02020603050405020304" pitchFamily="18" charset="0"/>
              <a:cs typeface="Times New Roman" panose="02020603050405020304" pitchFamily="18" charset="0"/>
            </a:endParaRPr>
          </a:p>
        </p:txBody>
      </p:sp>
      <p:sp>
        <p:nvSpPr>
          <p:cNvPr id="20" name="Subtitle 2">
            <a:extLst>
              <a:ext uri="{FF2B5EF4-FFF2-40B4-BE49-F238E27FC236}">
                <a16:creationId xmlns:a16="http://schemas.microsoft.com/office/drawing/2014/main" id="{10495390-4004-8F72-A4CF-C373F783B1B4}"/>
              </a:ext>
            </a:extLst>
          </p:cNvPr>
          <p:cNvSpPr txBox="1">
            <a:spLocks/>
          </p:cNvSpPr>
          <p:nvPr/>
        </p:nvSpPr>
        <p:spPr>
          <a:xfrm>
            <a:off x="6640972" y="4280930"/>
            <a:ext cx="4956176" cy="221059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cap="all">
                <a:latin typeface="Times New Roman" panose="02020603050405020304" pitchFamily="18" charset="0"/>
              </a:rPr>
              <a:t>PRESENTED BY : </a:t>
            </a:r>
          </a:p>
          <a:p>
            <a:pPr algn="l"/>
            <a:r>
              <a:rPr lang="en-US" sz="1800" cap="all">
                <a:latin typeface="Times New Roman" panose="02020603050405020304" pitchFamily="18" charset="0"/>
              </a:rPr>
              <a:t> </a:t>
            </a:r>
            <a:r>
              <a:rPr lang="en-US" sz="1800" b="1" cap="all">
                <a:latin typeface="Times New Roman" panose="02020603050405020304" pitchFamily="18" charset="0"/>
              </a:rPr>
              <a:t>Dhinesh </a:t>
            </a:r>
            <a:r>
              <a:rPr lang="en-US" sz="1800" b="1" cap="all" err="1">
                <a:latin typeface="Times New Roman" panose="02020603050405020304" pitchFamily="18" charset="0"/>
              </a:rPr>
              <a:t>kumar</a:t>
            </a:r>
            <a:r>
              <a:rPr lang="en-US" sz="1800" b="1" cap="all">
                <a:latin typeface="Times New Roman" panose="02020603050405020304" pitchFamily="18" charset="0"/>
              </a:rPr>
              <a:t> H (1114422106009)</a:t>
            </a:r>
          </a:p>
          <a:p>
            <a:pPr algn="l"/>
            <a:r>
              <a:rPr lang="en-US" sz="1800" b="1" cap="all">
                <a:latin typeface="Times New Roman" panose="02020603050405020304" pitchFamily="18" charset="0"/>
              </a:rPr>
              <a:t> Sreeman ab (111422106044)</a:t>
            </a:r>
          </a:p>
          <a:p>
            <a:pPr algn="l"/>
            <a:r>
              <a:rPr lang="en-US" sz="1800" b="1" cap="all">
                <a:latin typeface="Times New Roman" panose="02020603050405020304" pitchFamily="18" charset="0"/>
              </a:rPr>
              <a:t> Vikram m (111422106051)</a:t>
            </a:r>
          </a:p>
          <a:p>
            <a:pPr algn="l"/>
            <a:endParaRPr lang="en-US" sz="1400" cap="all">
              <a:latin typeface="Times New Roman" panose="02020603050405020304" pitchFamily="18" charset="0"/>
            </a:endParaRPr>
          </a:p>
        </p:txBody>
      </p:sp>
      <p:sp>
        <p:nvSpPr>
          <p:cNvPr id="16" name="TextBox 15">
            <a:extLst>
              <a:ext uri="{FF2B5EF4-FFF2-40B4-BE49-F238E27FC236}">
                <a16:creationId xmlns:a16="http://schemas.microsoft.com/office/drawing/2014/main" id="{758BA97B-D088-AC3B-62BB-C21604F2EA35}"/>
              </a:ext>
            </a:extLst>
          </p:cNvPr>
          <p:cNvSpPr txBox="1"/>
          <p:nvPr/>
        </p:nvSpPr>
        <p:spPr>
          <a:xfrm>
            <a:off x="1895856" y="1892774"/>
            <a:ext cx="8400288"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 FINAL PROJECT REVIEW </a:t>
            </a:r>
          </a:p>
        </p:txBody>
      </p:sp>
      <p:sp>
        <p:nvSpPr>
          <p:cNvPr id="23" name="TextBox 22">
            <a:extLst>
              <a:ext uri="{FF2B5EF4-FFF2-40B4-BE49-F238E27FC236}">
                <a16:creationId xmlns:a16="http://schemas.microsoft.com/office/drawing/2014/main" id="{1BD79BBB-A0DA-459B-9959-7F1BE1DCB088}"/>
              </a:ext>
            </a:extLst>
          </p:cNvPr>
          <p:cNvSpPr txBox="1"/>
          <p:nvPr/>
        </p:nvSpPr>
        <p:spPr>
          <a:xfrm>
            <a:off x="1062672" y="34877"/>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sp>
        <p:nvSpPr>
          <p:cNvPr id="24" name="TextBox 23">
            <a:extLst>
              <a:ext uri="{FF2B5EF4-FFF2-40B4-BE49-F238E27FC236}">
                <a16:creationId xmlns:a16="http://schemas.microsoft.com/office/drawing/2014/main" id="{B9857E0D-9D70-455F-8C66-F18471462FE9}"/>
              </a:ext>
            </a:extLst>
          </p:cNvPr>
          <p:cNvSpPr txBox="1"/>
          <p:nvPr/>
        </p:nvSpPr>
        <p:spPr>
          <a:xfrm>
            <a:off x="1447800" y="986135"/>
            <a:ext cx="9481465" cy="830997"/>
          </a:xfrm>
          <a:prstGeom prst="rect">
            <a:avLst/>
          </a:prstGeom>
          <a:noFill/>
        </p:spPr>
        <p:txBody>
          <a:bodyPr wrap="square">
            <a:spAutoFit/>
          </a:bodyPr>
          <a:lstStyle/>
          <a:p>
            <a:pPr algn="ctr" eaLnBrk="1" hangingPunct="1"/>
            <a:r>
              <a:rPr lang="en-US" altLang="en-US" sz="2400" b="1" dirty="0">
                <a:solidFill>
                  <a:srgbClr val="960000"/>
                </a:solidFill>
                <a:latin typeface="Times New Roman" pitchFamily="18" charset="0"/>
                <a:cs typeface="Times New Roman" pitchFamily="18" charset="0"/>
              </a:rPr>
              <a:t>DEPARTMENT OF ELECTRONICS AND COMMUNICATION  ENGINEERING</a:t>
            </a:r>
          </a:p>
        </p:txBody>
      </p:sp>
      <p:pic>
        <p:nvPicPr>
          <p:cNvPr id="25" name="Picture 8" descr="ppt-2.jpg">
            <a:extLst>
              <a:ext uri="{FF2B5EF4-FFF2-40B4-BE49-F238E27FC236}">
                <a16:creationId xmlns:a16="http://schemas.microsoft.com/office/drawing/2014/main" id="{B552366D-836E-4A80-9467-F09A4381AA21}"/>
              </a:ext>
            </a:extLst>
          </p:cNvPr>
          <p:cNvPicPr>
            <a:picLocks noChangeAspect="1"/>
          </p:cNvPicPr>
          <p:nvPr/>
        </p:nvPicPr>
        <p:blipFill>
          <a:blip r:embed="rId2"/>
          <a:srcRect/>
          <a:stretch>
            <a:fillRect/>
          </a:stretch>
        </p:blipFill>
        <p:spPr bwMode="auto">
          <a:xfrm>
            <a:off x="761999" y="6324042"/>
            <a:ext cx="11430001" cy="522073"/>
          </a:xfrm>
          <a:prstGeom prst="rect">
            <a:avLst/>
          </a:prstGeom>
          <a:noFill/>
          <a:ln w="9525">
            <a:noFill/>
            <a:miter lim="800000"/>
            <a:headEnd/>
            <a:tailEnd/>
          </a:ln>
        </p:spPr>
      </p:pic>
      <p:sp>
        <p:nvSpPr>
          <p:cNvPr id="26" name="TextBox 25">
            <a:extLst>
              <a:ext uri="{FF2B5EF4-FFF2-40B4-BE49-F238E27FC236}">
                <a16:creationId xmlns:a16="http://schemas.microsoft.com/office/drawing/2014/main" id="{D8F8545F-04A0-41D1-81F6-C9DA044B44E2}"/>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29" name="Slide Number Placeholder 28">
            <a:extLst>
              <a:ext uri="{FF2B5EF4-FFF2-40B4-BE49-F238E27FC236}">
                <a16:creationId xmlns:a16="http://schemas.microsoft.com/office/drawing/2014/main" id="{CB4B5457-C42F-4E7F-8A28-729364582E4A}"/>
              </a:ext>
            </a:extLst>
          </p:cNvPr>
          <p:cNvSpPr>
            <a:spLocks noGrp="1"/>
          </p:cNvSpPr>
          <p:nvPr>
            <p:ph type="sldNum" sz="quarter" idx="7"/>
          </p:nvPr>
        </p:nvSpPr>
        <p:spPr>
          <a:xfrm>
            <a:off x="8778240" y="6377940"/>
            <a:ext cx="2804160" cy="276999"/>
          </a:xfrm>
        </p:spPr>
        <p:txBody>
          <a:bodyPr/>
          <a:lstStyle/>
          <a:p>
            <a:r>
              <a:rPr lang="en-IN"/>
              <a:t>?</a:t>
            </a:r>
          </a:p>
        </p:txBody>
      </p:sp>
      <p:pic>
        <p:nvPicPr>
          <p:cNvPr id="15" name="Picture 2" descr="C:\Users\ADMIN\Downloads\prathyusha newone (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19EB2060-CE92-4779-A9F4-5565261441D5}"/>
              </a:ext>
            </a:extLst>
          </p:cNvPr>
          <p:cNvSpPr txBox="1"/>
          <p:nvPr/>
        </p:nvSpPr>
        <p:spPr>
          <a:xfrm>
            <a:off x="1219363" y="6335773"/>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C904015C-655F-4E3B-80FD-232F744890D6}"/>
              </a:ext>
            </a:extLst>
          </p:cNvPr>
          <p:cNvPicPr>
            <a:picLocks noChangeAspect="1"/>
          </p:cNvPicPr>
          <p:nvPr/>
        </p:nvPicPr>
        <p:blipFill>
          <a:blip r:embed="rId2"/>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81001D8A-1744-41BD-8134-8AAA1E7C1024}"/>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D99CB2E3-176F-40A8-8F7E-9ACE659D9206}"/>
              </a:ext>
            </a:extLst>
          </p:cNvPr>
          <p:cNvPicPr>
            <a:picLocks noChangeAspect="1"/>
          </p:cNvPicPr>
          <p:nvPr/>
        </p:nvPicPr>
        <p:blipFill>
          <a:blip r:embed="rId2"/>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2C0692AE-36AC-408B-A403-AE726A999174}"/>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19EB2060-CE92-4779-A9F4-5565261441D5}"/>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5C0116F3-592A-4298-A0CE-B3949785FC42}"/>
              </a:ext>
            </a:extLst>
          </p:cNvPr>
          <p:cNvSpPr>
            <a:spLocks noGrp="1"/>
          </p:cNvSpPr>
          <p:nvPr>
            <p:ph type="sldNum" sz="quarter" idx="7"/>
          </p:nvPr>
        </p:nvSpPr>
        <p:spPr/>
        <p:txBody>
          <a:bodyPr/>
          <a:lstStyle/>
          <a:p>
            <a:fld id="{B6F15528-21DE-4FAA-801E-634DDDAF4B2B}" type="slidenum">
              <a:rPr lang="en-IN" smtClean="0"/>
              <a:pPr/>
              <a:t>2</a:t>
            </a:fld>
            <a:endParaRPr lang="en-IN"/>
          </a:p>
        </p:txBody>
      </p:sp>
      <p:sp>
        <p:nvSpPr>
          <p:cNvPr id="9" name="Text Placeholder 2"/>
          <p:cNvSpPr>
            <a:spLocks noGrp="1"/>
          </p:cNvSpPr>
          <p:nvPr>
            <p:ph type="body" idx="1"/>
          </p:nvPr>
        </p:nvSpPr>
        <p:spPr>
          <a:xfrm>
            <a:off x="526573" y="1153535"/>
            <a:ext cx="10238935" cy="4062651"/>
          </a:xfrm>
        </p:spPr>
        <p:txBody>
          <a:bodyPr/>
          <a:lstStyle/>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Objectives </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Literature Survey</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Existing Problem , Proposed System &amp; Scope of the Project</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List of Modules </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Module Description Architecture diagram </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Output &amp; Results</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Outcome of the Project</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Conclusion &amp; Future Enhancements </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References </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Internship certificate </a:t>
            </a:r>
          </a:p>
          <a:p>
            <a:pPr marL="285750"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Conference Certificate</a:t>
            </a:r>
            <a:endParaRPr lang="en-IN" sz="2400" b="1" dirty="0">
              <a:latin typeface="Times New Roman" panose="02020603050405020304" pitchFamily="18" charset="0"/>
              <a:cs typeface="Times New Roman" pitchFamily="18" charset="0"/>
            </a:endParaRPr>
          </a:p>
        </p:txBody>
      </p:sp>
      <p:pic>
        <p:nvPicPr>
          <p:cNvPr id="1026" name="Picture 2" descr="C:\Users\ADMIN\Downloads\prathyusha newone (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FFFB227-10EC-9787-864F-1B8B3AE48AB7}"/>
            </a:ext>
          </a:extLst>
        </p:cNvPr>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8814A7C6-0BE0-3291-2430-98A43199556E}"/>
              </a:ext>
            </a:extLst>
          </p:cNvPr>
          <p:cNvPicPr>
            <a:picLocks noChangeAspect="1"/>
          </p:cNvPicPr>
          <p:nvPr/>
        </p:nvPicPr>
        <p:blipFill>
          <a:blip r:embed="rId2"/>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DB254739-E4AD-AF63-093E-3A7DD2E04781}"/>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67943A83-E685-3F89-0C82-CBB9915C88B2}"/>
              </a:ext>
            </a:extLst>
          </p:cNvPr>
          <p:cNvPicPr>
            <a:picLocks noChangeAspect="1"/>
          </p:cNvPicPr>
          <p:nvPr/>
        </p:nvPicPr>
        <p:blipFill>
          <a:blip r:embed="rId2"/>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733531C1-5D9D-3723-9477-9EEBBBD396E6}"/>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5D92CFB9-A146-A148-8735-C4FFD623026D}"/>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8AE76B2F-2F3F-2EB4-72ED-C116B2E11B23}"/>
              </a:ext>
            </a:extLst>
          </p:cNvPr>
          <p:cNvSpPr>
            <a:spLocks noGrp="1"/>
          </p:cNvSpPr>
          <p:nvPr>
            <p:ph type="sldNum" sz="quarter" idx="7"/>
          </p:nvPr>
        </p:nvSpPr>
        <p:spPr/>
        <p:txBody>
          <a:bodyPr/>
          <a:lstStyle/>
          <a:p>
            <a:fld id="{B6F15528-21DE-4FAA-801E-634DDDAF4B2B}" type="slidenum">
              <a:rPr lang="en-IN" smtClean="0"/>
              <a:pPr/>
              <a:t>3</a:t>
            </a:fld>
            <a:endParaRPr lang="en-IN"/>
          </a:p>
        </p:txBody>
      </p:sp>
      <p:sp>
        <p:nvSpPr>
          <p:cNvPr id="9" name="Text Placeholder 2">
            <a:extLst>
              <a:ext uri="{FF2B5EF4-FFF2-40B4-BE49-F238E27FC236}">
                <a16:creationId xmlns:a16="http://schemas.microsoft.com/office/drawing/2014/main" id="{DF1E2249-E13B-689C-4C83-F77490051E1A}"/>
              </a:ext>
            </a:extLst>
          </p:cNvPr>
          <p:cNvSpPr>
            <a:spLocks noGrp="1"/>
          </p:cNvSpPr>
          <p:nvPr>
            <p:ph type="body" idx="1"/>
          </p:nvPr>
        </p:nvSpPr>
        <p:spPr>
          <a:xfrm>
            <a:off x="526573" y="1004702"/>
            <a:ext cx="11576937" cy="4855324"/>
          </a:xfrm>
        </p:spPr>
        <p:txBody>
          <a:bodyPr/>
          <a:lstStyle/>
          <a:p>
            <a:pPr algn="just"/>
            <a:r>
              <a:rPr lang="en-US" sz="3200" b="1" u="sng" dirty="0">
                <a:latin typeface="Times New Roman" panose="02020603050405020304" pitchFamily="18" charset="0"/>
                <a:cs typeface="Times New Roman" pitchFamily="18" charset="0"/>
              </a:rPr>
              <a:t>OBJECTIVES</a:t>
            </a:r>
          </a:p>
          <a:p>
            <a:pPr marL="285750" indent="-285750" algn="just">
              <a:buFont typeface="Arial" pitchFamily="34" charset="0"/>
              <a:buChar char="•"/>
            </a:pPr>
            <a:endParaRPr lang="en-US" sz="2800" b="1" dirty="0">
              <a:latin typeface="Times New Roman" panose="02020603050405020304" pitchFamily="18" charset="0"/>
              <a:cs typeface="Times New Roman" pitchFamily="18" charset="0"/>
            </a:endParaRPr>
          </a:p>
          <a:p>
            <a:pPr algn="just"/>
            <a:r>
              <a:rPr lang="en-US" sz="2400" dirty="0">
                <a:latin typeface="Times New Roman" panose="02020603050405020304" pitchFamily="18" charset="0"/>
                <a:cs typeface="Times New Roman" panose="02020603050405020304" pitchFamily="18" charset="0"/>
              </a:rPr>
              <a:t>• To design and develop a </a:t>
            </a:r>
            <a:r>
              <a:rPr lang="en-US" sz="2400" b="1" dirty="0">
                <a:latin typeface="Times New Roman" panose="02020603050405020304" pitchFamily="18" charset="0"/>
                <a:cs typeface="Times New Roman" panose="02020603050405020304" pitchFamily="18" charset="0"/>
              </a:rPr>
              <a:t>motor fault detection system using vibration analysis</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To collect vibration signals using an </a:t>
            </a:r>
            <a:r>
              <a:rPr lang="en-US" sz="2400" b="1" dirty="0">
                <a:latin typeface="Times New Roman" panose="02020603050405020304" pitchFamily="18" charset="0"/>
                <a:cs typeface="Times New Roman" panose="02020603050405020304" pitchFamily="18" charset="0"/>
              </a:rPr>
              <a:t>ADXL345 accelerometer sensor</a:t>
            </a:r>
            <a:r>
              <a:rPr lang="en-US" sz="2400" dirty="0">
                <a:latin typeface="Times New Roman" panose="02020603050405020304" pitchFamily="18" charset="0"/>
                <a:cs typeface="Times New Roman" panose="02020603050405020304" pitchFamily="18" charset="0"/>
              </a:rPr>
              <a:t> mounted on the motor bearing.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To extract vibration features such as </a:t>
            </a:r>
            <a:r>
              <a:rPr lang="en-US" sz="2400" b="1" dirty="0">
                <a:latin typeface="Times New Roman" panose="02020603050405020304" pitchFamily="18" charset="0"/>
                <a:cs typeface="Times New Roman" panose="02020603050405020304" pitchFamily="18" charset="0"/>
              </a:rPr>
              <a:t>RMS, Peak value, Standard Deviation, and Kurtosis</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To apply </a:t>
            </a:r>
            <a:r>
              <a:rPr lang="en-US" sz="2400" b="1" dirty="0">
                <a:latin typeface="Times New Roman" panose="02020603050405020304" pitchFamily="18" charset="0"/>
                <a:cs typeface="Times New Roman" panose="02020603050405020304" pitchFamily="18" charset="0"/>
              </a:rPr>
              <a:t>Machine Learning algorithms (SVM and Random Forest)</a:t>
            </a:r>
            <a:r>
              <a:rPr lang="en-US" sz="2400" dirty="0">
                <a:latin typeface="Times New Roman" panose="02020603050405020304" pitchFamily="18" charset="0"/>
                <a:cs typeface="Times New Roman" panose="02020603050405020304" pitchFamily="18" charset="0"/>
              </a:rPr>
              <a:t> for motor fault classification.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To detect motor conditions such as </a:t>
            </a:r>
            <a:r>
              <a:rPr lang="en-US" sz="2400" b="1" dirty="0">
                <a:latin typeface="Times New Roman" panose="02020603050405020304" pitchFamily="18" charset="0"/>
                <a:cs typeface="Times New Roman" panose="02020603050405020304" pitchFamily="18" charset="0"/>
              </a:rPr>
              <a:t>Normal, Inner Race Fault, and Outer Race Fault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To enable </a:t>
            </a:r>
            <a:r>
              <a:rPr lang="en-US" sz="2400" b="1" dirty="0">
                <a:latin typeface="Times New Roman" panose="02020603050405020304" pitchFamily="18" charset="0"/>
                <a:cs typeface="Times New Roman" panose="02020603050405020304" pitchFamily="18" charset="0"/>
              </a:rPr>
              <a:t>early fault detection and predictive maintenance</a:t>
            </a:r>
            <a:r>
              <a:rPr lang="en-US" sz="2400" dirty="0">
                <a:latin typeface="Times New Roman" panose="02020603050405020304" pitchFamily="18" charset="0"/>
                <a:cs typeface="Times New Roman" panose="02020603050405020304" pitchFamily="18" charset="0"/>
              </a:rPr>
              <a:t>.</a:t>
            </a:r>
          </a:p>
          <a:p>
            <a:pPr marL="285750" indent="-285750" algn="just">
              <a:buFont typeface="Arial" pitchFamily="34" charset="0"/>
              <a:buChar char="•"/>
            </a:pPr>
            <a:endParaRPr lang="en-US" sz="2000" b="1" dirty="0">
              <a:latin typeface="Times New Roman" pitchFamily="18" charset="0"/>
              <a:cs typeface="Times New Roman" pitchFamily="18" charset="0"/>
            </a:endParaRPr>
          </a:p>
          <a:p>
            <a:pPr algn="just"/>
            <a:endParaRPr lang="en-IN" sz="2000" b="1" dirty="0">
              <a:latin typeface="Times New Roman" pitchFamily="18" charset="0"/>
              <a:cs typeface="Times New Roman" pitchFamily="18" charset="0"/>
            </a:endParaRPr>
          </a:p>
        </p:txBody>
      </p:sp>
      <p:pic>
        <p:nvPicPr>
          <p:cNvPr id="1026" name="Picture 2" descr="C:\Users\ADMIN\Downloads\prathyusha newone (2).png">
            <a:extLst>
              <a:ext uri="{FF2B5EF4-FFF2-40B4-BE49-F238E27FC236}">
                <a16:creationId xmlns:a16="http://schemas.microsoft.com/office/drawing/2014/main" id="{04AFD726-625E-D18A-3F6C-07DAD8A132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89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A95B0C-C503-36B5-38F7-E70B4D7927CC}"/>
            </a:ext>
          </a:extLst>
        </p:cNvPr>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A9578D45-48E9-4348-517F-C2786680F5E8}"/>
              </a:ext>
            </a:extLst>
          </p:cNvPr>
          <p:cNvPicPr>
            <a:picLocks noChangeAspect="1"/>
          </p:cNvPicPr>
          <p:nvPr/>
        </p:nvPicPr>
        <p:blipFill>
          <a:blip r:embed="rId2"/>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2326FC36-6CE0-87B5-0DD7-F70BA57EF409}"/>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9846E35E-8724-C0D8-872F-C553C2EF47F5}"/>
              </a:ext>
            </a:extLst>
          </p:cNvPr>
          <p:cNvPicPr>
            <a:picLocks noChangeAspect="1"/>
          </p:cNvPicPr>
          <p:nvPr/>
        </p:nvPicPr>
        <p:blipFill>
          <a:blip r:embed="rId2"/>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7CC670AE-E864-F52D-DFF3-615F5E1BD774}"/>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E3CB58A5-4852-309F-233C-0C8E9BAA18A3}"/>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80C27DCB-B35C-0E2C-D804-445828CF103E}"/>
              </a:ext>
            </a:extLst>
          </p:cNvPr>
          <p:cNvSpPr>
            <a:spLocks noGrp="1"/>
          </p:cNvSpPr>
          <p:nvPr>
            <p:ph type="sldNum" sz="quarter" idx="7"/>
          </p:nvPr>
        </p:nvSpPr>
        <p:spPr/>
        <p:txBody>
          <a:bodyPr/>
          <a:lstStyle/>
          <a:p>
            <a:fld id="{B6F15528-21DE-4FAA-801E-634DDDAF4B2B}" type="slidenum">
              <a:rPr lang="en-IN" smtClean="0"/>
              <a:pPr/>
              <a:t>4</a:t>
            </a:fld>
            <a:endParaRPr lang="en-IN"/>
          </a:p>
        </p:txBody>
      </p:sp>
      <p:sp>
        <p:nvSpPr>
          <p:cNvPr id="9" name="Text Placeholder 2">
            <a:extLst>
              <a:ext uri="{FF2B5EF4-FFF2-40B4-BE49-F238E27FC236}">
                <a16:creationId xmlns:a16="http://schemas.microsoft.com/office/drawing/2014/main" id="{C6ABF208-EFEE-3937-D47A-F043D9D9EC92}"/>
              </a:ext>
            </a:extLst>
          </p:cNvPr>
          <p:cNvSpPr>
            <a:spLocks noGrp="1"/>
          </p:cNvSpPr>
          <p:nvPr>
            <p:ph type="body" idx="1"/>
          </p:nvPr>
        </p:nvSpPr>
        <p:spPr>
          <a:xfrm>
            <a:off x="625710" y="1015936"/>
            <a:ext cx="10238935" cy="984885"/>
          </a:xfrm>
        </p:spPr>
        <p:txBody>
          <a:bodyPr/>
          <a:lstStyle/>
          <a:p>
            <a:pPr algn="just"/>
            <a:r>
              <a:rPr lang="en-US" sz="3200" b="1" u="sng" dirty="0">
                <a:latin typeface="Times New Roman" panose="02020603050405020304" pitchFamily="18" charset="0"/>
                <a:cs typeface="Times New Roman" pitchFamily="18" charset="0"/>
              </a:rPr>
              <a:t>LITERATURE SURVEY</a:t>
            </a:r>
          </a:p>
          <a:p>
            <a:pPr algn="just"/>
            <a:endParaRPr lang="en-IN" sz="3200" b="1" u="sng" dirty="0">
              <a:latin typeface="Times New Roman" panose="02020603050405020304" pitchFamily="18" charset="0"/>
              <a:cs typeface="Times New Roman" pitchFamily="18" charset="0"/>
            </a:endParaRPr>
          </a:p>
        </p:txBody>
      </p:sp>
      <p:pic>
        <p:nvPicPr>
          <p:cNvPr id="1026" name="Picture 2" descr="C:\Users\ADMIN\Downloads\prathyusha newone (2).png">
            <a:extLst>
              <a:ext uri="{FF2B5EF4-FFF2-40B4-BE49-F238E27FC236}">
                <a16:creationId xmlns:a16="http://schemas.microsoft.com/office/drawing/2014/main" id="{673CF795-F294-D981-C6F4-B9CA09E82F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object 5">
            <a:extLst>
              <a:ext uri="{FF2B5EF4-FFF2-40B4-BE49-F238E27FC236}">
                <a16:creationId xmlns:a16="http://schemas.microsoft.com/office/drawing/2014/main" id="{566885F1-A1E3-2463-287C-FCF69632B15D}"/>
              </a:ext>
            </a:extLst>
          </p:cNvPr>
          <p:cNvGrpSpPr/>
          <p:nvPr/>
        </p:nvGrpSpPr>
        <p:grpSpPr>
          <a:xfrm>
            <a:off x="1287780" y="2545079"/>
            <a:ext cx="8737600" cy="3831590"/>
            <a:chOff x="1135380" y="2392679"/>
            <a:chExt cx="8737600" cy="3831590"/>
          </a:xfrm>
        </p:grpSpPr>
        <p:sp>
          <p:nvSpPr>
            <p:cNvPr id="16" name="object 7">
              <a:extLst>
                <a:ext uri="{FF2B5EF4-FFF2-40B4-BE49-F238E27FC236}">
                  <a16:creationId xmlns:a16="http://schemas.microsoft.com/office/drawing/2014/main" id="{1282063D-E86E-3B37-CF69-F40F744071F1}"/>
                </a:ext>
              </a:extLst>
            </p:cNvPr>
            <p:cNvSpPr/>
            <p:nvPr/>
          </p:nvSpPr>
          <p:spPr>
            <a:xfrm>
              <a:off x="1868424" y="2392679"/>
              <a:ext cx="6783705" cy="3831590"/>
            </a:xfrm>
            <a:custGeom>
              <a:avLst/>
              <a:gdLst/>
              <a:ahLst/>
              <a:cxnLst/>
              <a:rect l="l" t="t" r="r" b="b"/>
              <a:pathLst>
                <a:path w="6783705" h="3831590">
                  <a:moveTo>
                    <a:pt x="0" y="0"/>
                  </a:moveTo>
                  <a:lnTo>
                    <a:pt x="0" y="3831336"/>
                  </a:lnTo>
                </a:path>
                <a:path w="6783705" h="3831590">
                  <a:moveTo>
                    <a:pt x="2182367" y="0"/>
                  </a:moveTo>
                  <a:lnTo>
                    <a:pt x="2182367" y="3831336"/>
                  </a:lnTo>
                </a:path>
                <a:path w="6783705" h="3831590">
                  <a:moveTo>
                    <a:pt x="3573779" y="0"/>
                  </a:moveTo>
                  <a:lnTo>
                    <a:pt x="3573779" y="3831336"/>
                  </a:lnTo>
                </a:path>
                <a:path w="6783705" h="3831590">
                  <a:moveTo>
                    <a:pt x="5469636" y="0"/>
                  </a:moveTo>
                  <a:lnTo>
                    <a:pt x="5469636" y="3831336"/>
                  </a:lnTo>
                </a:path>
                <a:path w="6783705" h="3831590">
                  <a:moveTo>
                    <a:pt x="6783324" y="0"/>
                  </a:moveTo>
                  <a:lnTo>
                    <a:pt x="6783324" y="3831336"/>
                  </a:lnTo>
                </a:path>
              </a:pathLst>
            </a:custGeom>
            <a:ln w="10668">
              <a:solidFill>
                <a:srgbClr val="FFFFFF"/>
              </a:solidFill>
            </a:ln>
          </p:spPr>
          <p:txBody>
            <a:bodyPr wrap="square" lIns="0" tIns="0" rIns="0" bIns="0" rtlCol="0"/>
            <a:lstStyle/>
            <a:p>
              <a:endParaRPr/>
            </a:p>
          </p:txBody>
        </p:sp>
        <p:sp>
          <p:nvSpPr>
            <p:cNvPr id="17" name="object 8">
              <a:extLst>
                <a:ext uri="{FF2B5EF4-FFF2-40B4-BE49-F238E27FC236}">
                  <a16:creationId xmlns:a16="http://schemas.microsoft.com/office/drawing/2014/main" id="{87048858-D13D-7733-C2F0-CACB9F4F5C8E}"/>
                </a:ext>
              </a:extLst>
            </p:cNvPr>
            <p:cNvSpPr/>
            <p:nvPr/>
          </p:nvSpPr>
          <p:spPr>
            <a:xfrm>
              <a:off x="1135380" y="2648711"/>
              <a:ext cx="8737600" cy="0"/>
            </a:xfrm>
            <a:custGeom>
              <a:avLst/>
              <a:gdLst/>
              <a:ahLst/>
              <a:cxnLst/>
              <a:rect l="l" t="t" r="r" b="b"/>
              <a:pathLst>
                <a:path w="8737600">
                  <a:moveTo>
                    <a:pt x="0" y="0"/>
                  </a:moveTo>
                  <a:lnTo>
                    <a:pt x="8737091" y="0"/>
                  </a:lnTo>
                </a:path>
              </a:pathLst>
            </a:custGeom>
            <a:ln w="32004">
              <a:solidFill>
                <a:srgbClr val="FFFFFF"/>
              </a:solidFill>
            </a:ln>
          </p:spPr>
          <p:txBody>
            <a:bodyPr wrap="square" lIns="0" tIns="0" rIns="0" bIns="0" rtlCol="0"/>
            <a:lstStyle/>
            <a:p>
              <a:endParaRPr/>
            </a:p>
          </p:txBody>
        </p:sp>
        <p:sp>
          <p:nvSpPr>
            <p:cNvPr id="18" name="object 9">
              <a:extLst>
                <a:ext uri="{FF2B5EF4-FFF2-40B4-BE49-F238E27FC236}">
                  <a16:creationId xmlns:a16="http://schemas.microsoft.com/office/drawing/2014/main" id="{F15791D6-0266-8EC9-872C-DF00322D7994}"/>
                </a:ext>
              </a:extLst>
            </p:cNvPr>
            <p:cNvSpPr/>
            <p:nvPr/>
          </p:nvSpPr>
          <p:spPr>
            <a:xfrm>
              <a:off x="1135380" y="2392679"/>
              <a:ext cx="8737600" cy="3831590"/>
            </a:xfrm>
            <a:custGeom>
              <a:avLst/>
              <a:gdLst/>
              <a:ahLst/>
              <a:cxnLst/>
              <a:rect l="l" t="t" r="r" b="b"/>
              <a:pathLst>
                <a:path w="8737600" h="3831590">
                  <a:moveTo>
                    <a:pt x="0" y="1386839"/>
                  </a:moveTo>
                  <a:lnTo>
                    <a:pt x="8737091" y="1386839"/>
                  </a:lnTo>
                </a:path>
                <a:path w="8737600" h="3831590">
                  <a:moveTo>
                    <a:pt x="0" y="2694432"/>
                  </a:moveTo>
                  <a:lnTo>
                    <a:pt x="8737091" y="2694432"/>
                  </a:lnTo>
                </a:path>
                <a:path w="8737600" h="3831590">
                  <a:moveTo>
                    <a:pt x="6095" y="0"/>
                  </a:moveTo>
                  <a:lnTo>
                    <a:pt x="6095" y="3831336"/>
                  </a:lnTo>
                </a:path>
                <a:path w="8737600" h="3831590">
                  <a:moveTo>
                    <a:pt x="8732520" y="0"/>
                  </a:moveTo>
                  <a:lnTo>
                    <a:pt x="8732520" y="3831336"/>
                  </a:lnTo>
                </a:path>
                <a:path w="8737600" h="3831590">
                  <a:moveTo>
                    <a:pt x="0" y="4571"/>
                  </a:moveTo>
                  <a:lnTo>
                    <a:pt x="8737091" y="4571"/>
                  </a:lnTo>
                </a:path>
                <a:path w="8737600" h="3831590">
                  <a:moveTo>
                    <a:pt x="0" y="3826764"/>
                  </a:moveTo>
                  <a:lnTo>
                    <a:pt x="8737091" y="3826764"/>
                  </a:lnTo>
                </a:path>
              </a:pathLst>
            </a:custGeom>
            <a:ln w="10668">
              <a:solidFill>
                <a:srgbClr val="FFFFFF"/>
              </a:solidFill>
            </a:ln>
          </p:spPr>
          <p:txBody>
            <a:bodyPr wrap="square" lIns="0" tIns="0" rIns="0" bIns="0" rtlCol="0"/>
            <a:lstStyle/>
            <a:p>
              <a:endParaRPr/>
            </a:p>
          </p:txBody>
        </p:sp>
      </p:grpSp>
      <p:grpSp>
        <p:nvGrpSpPr>
          <p:cNvPr id="19" name="object 5">
            <a:extLst>
              <a:ext uri="{FF2B5EF4-FFF2-40B4-BE49-F238E27FC236}">
                <a16:creationId xmlns:a16="http://schemas.microsoft.com/office/drawing/2014/main" id="{1560CBED-21BD-BC1B-402F-0BFE0F409D84}"/>
              </a:ext>
            </a:extLst>
          </p:cNvPr>
          <p:cNvGrpSpPr/>
          <p:nvPr/>
        </p:nvGrpSpPr>
        <p:grpSpPr>
          <a:xfrm>
            <a:off x="1135380" y="2392679"/>
            <a:ext cx="8737600" cy="3831590"/>
            <a:chOff x="1135380" y="2392679"/>
            <a:chExt cx="8737600" cy="3831590"/>
          </a:xfrm>
        </p:grpSpPr>
        <p:sp>
          <p:nvSpPr>
            <p:cNvPr id="21" name="object 7">
              <a:extLst>
                <a:ext uri="{FF2B5EF4-FFF2-40B4-BE49-F238E27FC236}">
                  <a16:creationId xmlns:a16="http://schemas.microsoft.com/office/drawing/2014/main" id="{0C6ECA95-1C45-E90A-6D20-10FD45DE6B60}"/>
                </a:ext>
              </a:extLst>
            </p:cNvPr>
            <p:cNvSpPr/>
            <p:nvPr/>
          </p:nvSpPr>
          <p:spPr>
            <a:xfrm>
              <a:off x="1868424" y="2392679"/>
              <a:ext cx="6783705" cy="3831590"/>
            </a:xfrm>
            <a:custGeom>
              <a:avLst/>
              <a:gdLst/>
              <a:ahLst/>
              <a:cxnLst/>
              <a:rect l="l" t="t" r="r" b="b"/>
              <a:pathLst>
                <a:path w="6783705" h="3831590">
                  <a:moveTo>
                    <a:pt x="0" y="0"/>
                  </a:moveTo>
                  <a:lnTo>
                    <a:pt x="0" y="3831336"/>
                  </a:lnTo>
                </a:path>
                <a:path w="6783705" h="3831590">
                  <a:moveTo>
                    <a:pt x="2182367" y="0"/>
                  </a:moveTo>
                  <a:lnTo>
                    <a:pt x="2182367" y="3831336"/>
                  </a:lnTo>
                </a:path>
                <a:path w="6783705" h="3831590">
                  <a:moveTo>
                    <a:pt x="3573779" y="0"/>
                  </a:moveTo>
                  <a:lnTo>
                    <a:pt x="3573779" y="3831336"/>
                  </a:lnTo>
                </a:path>
                <a:path w="6783705" h="3831590">
                  <a:moveTo>
                    <a:pt x="5469636" y="0"/>
                  </a:moveTo>
                  <a:lnTo>
                    <a:pt x="5469636" y="3831336"/>
                  </a:lnTo>
                </a:path>
                <a:path w="6783705" h="3831590">
                  <a:moveTo>
                    <a:pt x="6783324" y="0"/>
                  </a:moveTo>
                  <a:lnTo>
                    <a:pt x="6783324" y="3831336"/>
                  </a:lnTo>
                </a:path>
              </a:pathLst>
            </a:custGeom>
            <a:ln w="10668">
              <a:solidFill>
                <a:srgbClr val="FFFFFF"/>
              </a:solidFill>
            </a:ln>
          </p:spPr>
          <p:txBody>
            <a:bodyPr wrap="square" lIns="0" tIns="0" rIns="0" bIns="0" rtlCol="0"/>
            <a:lstStyle/>
            <a:p>
              <a:endParaRPr/>
            </a:p>
          </p:txBody>
        </p:sp>
        <p:sp>
          <p:nvSpPr>
            <p:cNvPr id="22" name="object 8">
              <a:extLst>
                <a:ext uri="{FF2B5EF4-FFF2-40B4-BE49-F238E27FC236}">
                  <a16:creationId xmlns:a16="http://schemas.microsoft.com/office/drawing/2014/main" id="{4500C8A5-6632-F79A-69FE-0CC0B19BDB08}"/>
                </a:ext>
              </a:extLst>
            </p:cNvPr>
            <p:cNvSpPr/>
            <p:nvPr/>
          </p:nvSpPr>
          <p:spPr>
            <a:xfrm>
              <a:off x="1135380" y="2648711"/>
              <a:ext cx="8737600" cy="0"/>
            </a:xfrm>
            <a:custGeom>
              <a:avLst/>
              <a:gdLst/>
              <a:ahLst/>
              <a:cxnLst/>
              <a:rect l="l" t="t" r="r" b="b"/>
              <a:pathLst>
                <a:path w="8737600">
                  <a:moveTo>
                    <a:pt x="0" y="0"/>
                  </a:moveTo>
                  <a:lnTo>
                    <a:pt x="8737091" y="0"/>
                  </a:lnTo>
                </a:path>
              </a:pathLst>
            </a:custGeom>
            <a:ln w="32004">
              <a:solidFill>
                <a:srgbClr val="FFFFFF"/>
              </a:solidFill>
            </a:ln>
          </p:spPr>
          <p:txBody>
            <a:bodyPr wrap="square" lIns="0" tIns="0" rIns="0" bIns="0" rtlCol="0"/>
            <a:lstStyle/>
            <a:p>
              <a:endParaRPr/>
            </a:p>
          </p:txBody>
        </p:sp>
        <p:sp>
          <p:nvSpPr>
            <p:cNvPr id="23" name="object 9">
              <a:extLst>
                <a:ext uri="{FF2B5EF4-FFF2-40B4-BE49-F238E27FC236}">
                  <a16:creationId xmlns:a16="http://schemas.microsoft.com/office/drawing/2014/main" id="{DC4C61DB-5BE3-6327-A3A8-5C341D0179E2}"/>
                </a:ext>
              </a:extLst>
            </p:cNvPr>
            <p:cNvSpPr/>
            <p:nvPr/>
          </p:nvSpPr>
          <p:spPr>
            <a:xfrm>
              <a:off x="1135380" y="2392679"/>
              <a:ext cx="8737600" cy="3831590"/>
            </a:xfrm>
            <a:custGeom>
              <a:avLst/>
              <a:gdLst/>
              <a:ahLst/>
              <a:cxnLst/>
              <a:rect l="l" t="t" r="r" b="b"/>
              <a:pathLst>
                <a:path w="8737600" h="3831590">
                  <a:moveTo>
                    <a:pt x="0" y="1386839"/>
                  </a:moveTo>
                  <a:lnTo>
                    <a:pt x="8737091" y="1386839"/>
                  </a:lnTo>
                </a:path>
                <a:path w="8737600" h="3831590">
                  <a:moveTo>
                    <a:pt x="0" y="2694432"/>
                  </a:moveTo>
                  <a:lnTo>
                    <a:pt x="8737091" y="2694432"/>
                  </a:lnTo>
                </a:path>
                <a:path w="8737600" h="3831590">
                  <a:moveTo>
                    <a:pt x="6095" y="0"/>
                  </a:moveTo>
                  <a:lnTo>
                    <a:pt x="6095" y="3831336"/>
                  </a:lnTo>
                </a:path>
                <a:path w="8737600" h="3831590">
                  <a:moveTo>
                    <a:pt x="8732520" y="0"/>
                  </a:moveTo>
                  <a:lnTo>
                    <a:pt x="8732520" y="3831336"/>
                  </a:lnTo>
                </a:path>
                <a:path w="8737600" h="3831590">
                  <a:moveTo>
                    <a:pt x="0" y="4571"/>
                  </a:moveTo>
                  <a:lnTo>
                    <a:pt x="8737091" y="4571"/>
                  </a:lnTo>
                </a:path>
                <a:path w="8737600" h="3831590">
                  <a:moveTo>
                    <a:pt x="0" y="3826764"/>
                  </a:moveTo>
                  <a:lnTo>
                    <a:pt x="8737091" y="3826764"/>
                  </a:lnTo>
                </a:path>
              </a:pathLst>
            </a:custGeom>
            <a:ln w="10668">
              <a:solidFill>
                <a:srgbClr val="FFFFFF"/>
              </a:solidFill>
            </a:ln>
          </p:spPr>
          <p:txBody>
            <a:bodyPr wrap="square" lIns="0" tIns="0" rIns="0" bIns="0" rtlCol="0"/>
            <a:lstStyle/>
            <a:p>
              <a:endParaRPr/>
            </a:p>
          </p:txBody>
        </p:sp>
      </p:grpSp>
      <p:pic>
        <p:nvPicPr>
          <p:cNvPr id="3" name="Picture 2">
            <a:extLst>
              <a:ext uri="{FF2B5EF4-FFF2-40B4-BE49-F238E27FC236}">
                <a16:creationId xmlns:a16="http://schemas.microsoft.com/office/drawing/2014/main" id="{3849B109-444A-7B89-A998-0362E4195633}"/>
              </a:ext>
            </a:extLst>
          </p:cNvPr>
          <p:cNvPicPr>
            <a:picLocks noChangeAspect="1"/>
          </p:cNvPicPr>
          <p:nvPr/>
        </p:nvPicPr>
        <p:blipFill>
          <a:blip r:embed="rId4"/>
          <a:stretch>
            <a:fillRect/>
          </a:stretch>
        </p:blipFill>
        <p:spPr>
          <a:xfrm>
            <a:off x="625710" y="1639050"/>
            <a:ext cx="10568124" cy="4591668"/>
          </a:xfrm>
          <a:prstGeom prst="rect">
            <a:avLst/>
          </a:prstGeom>
        </p:spPr>
      </p:pic>
    </p:spTree>
    <p:extLst>
      <p:ext uri="{BB962C8B-B14F-4D97-AF65-F5344CB8AC3E}">
        <p14:creationId xmlns:p14="http://schemas.microsoft.com/office/powerpoint/2010/main" val="3362948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0530B-86AB-7282-B16D-0460DBAB4F69}"/>
            </a:ext>
          </a:extLst>
        </p:cNvPr>
        <p:cNvGrpSpPr/>
        <p:nvPr/>
      </p:nvGrpSpPr>
      <p:grpSpPr>
        <a:xfrm>
          <a:off x="0" y="0"/>
          <a:ext cx="0" cy="0"/>
          <a:chOff x="0" y="0"/>
          <a:chExt cx="0" cy="0"/>
        </a:xfrm>
      </p:grpSpPr>
      <p:pic>
        <p:nvPicPr>
          <p:cNvPr id="21" name="Picture 8" descr="ppt-2.jpg">
            <a:extLst>
              <a:ext uri="{FF2B5EF4-FFF2-40B4-BE49-F238E27FC236}">
                <a16:creationId xmlns:a16="http://schemas.microsoft.com/office/drawing/2014/main" id="{32EB3FCD-904B-09EC-8D24-09F65B37A04A}"/>
              </a:ext>
            </a:extLst>
          </p:cNvPr>
          <p:cNvPicPr>
            <a:picLocks noChangeAspect="1"/>
          </p:cNvPicPr>
          <p:nvPr/>
        </p:nvPicPr>
        <p:blipFill>
          <a:blip r:embed="rId2"/>
          <a:srcRect/>
          <a:stretch>
            <a:fillRect/>
          </a:stretch>
        </p:blipFill>
        <p:spPr bwMode="auto">
          <a:xfrm>
            <a:off x="9525" y="11885"/>
            <a:ext cx="11433176" cy="761999"/>
          </a:xfrm>
          <a:prstGeom prst="rect">
            <a:avLst/>
          </a:prstGeom>
          <a:noFill/>
          <a:ln w="9525">
            <a:noFill/>
            <a:miter lim="800000"/>
            <a:headEnd/>
            <a:tailEnd/>
          </a:ln>
        </p:spPr>
      </p:pic>
      <p:pic>
        <p:nvPicPr>
          <p:cNvPr id="14" name="object 14">
            <a:extLst>
              <a:ext uri="{FF2B5EF4-FFF2-40B4-BE49-F238E27FC236}">
                <a16:creationId xmlns:a16="http://schemas.microsoft.com/office/drawing/2014/main" id="{4F21EC8F-BE01-0972-89AA-E56FCD49CA3B}"/>
              </a:ext>
            </a:extLst>
          </p:cNvPr>
          <p:cNvPicPr/>
          <p:nvPr/>
        </p:nvPicPr>
        <p:blipFill>
          <a:blip r:embed="rId3" cstate="print"/>
          <a:stretch>
            <a:fillRect/>
          </a:stretch>
        </p:blipFill>
        <p:spPr>
          <a:xfrm>
            <a:off x="11442701" y="55731"/>
            <a:ext cx="758824" cy="718154"/>
          </a:xfrm>
          <a:prstGeom prst="rect">
            <a:avLst/>
          </a:prstGeom>
        </p:spPr>
      </p:pic>
      <p:sp>
        <p:nvSpPr>
          <p:cNvPr id="20" name="Subtitle 2">
            <a:extLst>
              <a:ext uri="{FF2B5EF4-FFF2-40B4-BE49-F238E27FC236}">
                <a16:creationId xmlns:a16="http://schemas.microsoft.com/office/drawing/2014/main" id="{BBC5D9E9-FB06-4E78-1B51-8D2370BA1B4F}"/>
              </a:ext>
            </a:extLst>
          </p:cNvPr>
          <p:cNvSpPr txBox="1">
            <a:spLocks/>
          </p:cNvSpPr>
          <p:nvPr/>
        </p:nvSpPr>
        <p:spPr>
          <a:xfrm>
            <a:off x="6705600" y="4191000"/>
            <a:ext cx="4956176" cy="12954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cap="all" dirty="0">
              <a:latin typeface="Times New Roman" panose="02020603050405020304" pitchFamily="18" charset="0"/>
            </a:endParaRPr>
          </a:p>
        </p:txBody>
      </p:sp>
      <p:sp>
        <p:nvSpPr>
          <p:cNvPr id="23" name="TextBox 22">
            <a:extLst>
              <a:ext uri="{FF2B5EF4-FFF2-40B4-BE49-F238E27FC236}">
                <a16:creationId xmlns:a16="http://schemas.microsoft.com/office/drawing/2014/main" id="{78EE9D3B-E413-1461-524C-0C1E969C446F}"/>
              </a:ext>
            </a:extLst>
          </p:cNvPr>
          <p:cNvSpPr txBox="1"/>
          <p:nvPr/>
        </p:nvSpPr>
        <p:spPr>
          <a:xfrm>
            <a:off x="1062672" y="34877"/>
            <a:ext cx="10439399" cy="784830"/>
          </a:xfrm>
          <a:prstGeom prst="rect">
            <a:avLst/>
          </a:prstGeom>
          <a:noFill/>
        </p:spPr>
        <p:txBody>
          <a:bodyPr wrap="square">
            <a:spAutoFit/>
          </a:bodyPr>
          <a:lstStyle/>
          <a:p>
            <a:pPr algn="ctr" eaLnBrk="1" hangingPunct="1">
              <a:spcAft>
                <a:spcPts val="600"/>
              </a:spcAft>
            </a:pPr>
            <a:r>
              <a:rPr lang="en-US" altLang="en-US" sz="2400" b="1" dirty="0">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dirty="0">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25" name="Picture 8" descr="ppt-2.jpg">
            <a:extLst>
              <a:ext uri="{FF2B5EF4-FFF2-40B4-BE49-F238E27FC236}">
                <a16:creationId xmlns:a16="http://schemas.microsoft.com/office/drawing/2014/main" id="{CDB3CE31-0591-69A1-E7DC-B4ABF4042DA7}"/>
              </a:ext>
            </a:extLst>
          </p:cNvPr>
          <p:cNvPicPr>
            <a:picLocks noChangeAspect="1"/>
          </p:cNvPicPr>
          <p:nvPr/>
        </p:nvPicPr>
        <p:blipFill>
          <a:blip r:embed="rId2"/>
          <a:srcRect/>
          <a:stretch>
            <a:fillRect/>
          </a:stretch>
        </p:blipFill>
        <p:spPr bwMode="auto">
          <a:xfrm>
            <a:off x="761999" y="6324042"/>
            <a:ext cx="11430001" cy="522073"/>
          </a:xfrm>
          <a:prstGeom prst="rect">
            <a:avLst/>
          </a:prstGeom>
          <a:noFill/>
          <a:ln w="9525">
            <a:noFill/>
            <a:miter lim="800000"/>
            <a:headEnd/>
            <a:tailEnd/>
          </a:ln>
        </p:spPr>
      </p:pic>
      <p:sp>
        <p:nvSpPr>
          <p:cNvPr id="26" name="TextBox 25">
            <a:extLst>
              <a:ext uri="{FF2B5EF4-FFF2-40B4-BE49-F238E27FC236}">
                <a16:creationId xmlns:a16="http://schemas.microsoft.com/office/drawing/2014/main" id="{E693B736-E357-62CB-B86F-552BCE68F60E}"/>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dirty="0">
                <a:solidFill>
                  <a:srgbClr val="960000"/>
                </a:solidFill>
                <a:latin typeface="Arial Black" pitchFamily="34" charset="0"/>
                <a:ea typeface="Aharoni" pitchFamily="2" charset="0"/>
                <a:cs typeface="Aharoni" pitchFamily="2" charset="0"/>
              </a:rPr>
              <a:t>ECE</a:t>
            </a:r>
          </a:p>
        </p:txBody>
      </p:sp>
      <p:sp>
        <p:nvSpPr>
          <p:cNvPr id="2" name="Title 1">
            <a:extLst>
              <a:ext uri="{FF2B5EF4-FFF2-40B4-BE49-F238E27FC236}">
                <a16:creationId xmlns:a16="http://schemas.microsoft.com/office/drawing/2014/main" id="{50180818-14C2-CA54-04CF-553864B78BCF}"/>
              </a:ext>
            </a:extLst>
          </p:cNvPr>
          <p:cNvSpPr>
            <a:spLocks noGrp="1"/>
          </p:cNvSpPr>
          <p:nvPr>
            <p:ph type="title"/>
          </p:nvPr>
        </p:nvSpPr>
        <p:spPr>
          <a:xfrm>
            <a:off x="913891" y="924026"/>
            <a:ext cx="7634606" cy="861774"/>
          </a:xfrm>
        </p:spPr>
        <p:txBody>
          <a:bodyPr/>
          <a:lstStyle/>
          <a:p>
            <a:r>
              <a:rPr lang="en-US" sz="2800" b="1" dirty="0"/>
              <a:t>PROJECT SCOPE, EXISTING SYSTEM &amp; PROPOSED SYSTEM</a:t>
            </a:r>
            <a:endParaRPr lang="en-IN" sz="2800" b="1" dirty="0"/>
          </a:p>
        </p:txBody>
      </p:sp>
      <p:sp>
        <p:nvSpPr>
          <p:cNvPr id="3" name="Text Placeholder 2">
            <a:extLst>
              <a:ext uri="{FF2B5EF4-FFF2-40B4-BE49-F238E27FC236}">
                <a16:creationId xmlns:a16="http://schemas.microsoft.com/office/drawing/2014/main" id="{A4EE8195-950C-6AB8-B30A-1AFE42C958BB}"/>
              </a:ext>
            </a:extLst>
          </p:cNvPr>
          <p:cNvSpPr>
            <a:spLocks noGrp="1"/>
          </p:cNvSpPr>
          <p:nvPr>
            <p:ph type="body" idx="1"/>
          </p:nvPr>
        </p:nvSpPr>
        <p:spPr>
          <a:xfrm>
            <a:off x="913891" y="2022182"/>
            <a:ext cx="10364216" cy="4708981"/>
          </a:xfrm>
        </p:spPr>
        <p:txBody>
          <a:bodyPr/>
          <a:lstStyle/>
          <a:p>
            <a:r>
              <a:rPr lang="en-US" b="1" dirty="0">
                <a:latin typeface="Times New Roman" panose="02020603050405020304" pitchFamily="18" charset="0"/>
                <a:cs typeface="Times New Roman" panose="02020603050405020304" pitchFamily="18" charset="0"/>
              </a:rPr>
              <a:t>PROJECT SCOPE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Monitor vibration of warehouse equipment such as conveyor motors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 machine learning to identify abnormal vibration patterns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predictive maintenance in warehousing and logistics operation</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EXISTING SYSTEM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Maintenance is based on periodic manual inspection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Faults are detected only after failure occurs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real-time condition monitoring is available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PROPOSED SYSTEM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Continuous vibration monitoring using IoT sensors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AI-based fault detection for early warning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Centralized web dashboard for equipment health monitoring</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9" name="Slide Number Placeholder 28">
            <a:extLst>
              <a:ext uri="{FF2B5EF4-FFF2-40B4-BE49-F238E27FC236}">
                <a16:creationId xmlns:a16="http://schemas.microsoft.com/office/drawing/2014/main" id="{A5AE234A-4FBB-35FB-9CEB-15A88F29C065}"/>
              </a:ext>
            </a:extLst>
          </p:cNvPr>
          <p:cNvSpPr>
            <a:spLocks noGrp="1"/>
          </p:cNvSpPr>
          <p:nvPr>
            <p:ph type="sldNum" sz="quarter" idx="7"/>
          </p:nvPr>
        </p:nvSpPr>
        <p:spPr/>
        <p:txBody>
          <a:bodyPr/>
          <a:lstStyle/>
          <a:p>
            <a:fld id="{B6F15528-21DE-4FAA-801E-634DDDAF4B2B}" type="slidenum">
              <a:rPr lang="en-IN" smtClean="0"/>
              <a:pPr/>
              <a:t>5</a:t>
            </a:fld>
            <a:endParaRPr lang="en-IN" dirty="0"/>
          </a:p>
        </p:txBody>
      </p:sp>
      <p:pic>
        <p:nvPicPr>
          <p:cNvPr id="15" name="Picture 2" descr="C:\Users\ADMIN\Downloads\prathyusha newone (2).png">
            <a:extLst>
              <a:ext uri="{FF2B5EF4-FFF2-40B4-BE49-F238E27FC236}">
                <a16:creationId xmlns:a16="http://schemas.microsoft.com/office/drawing/2014/main" id="{2A14DAB2-993A-8855-7217-04038557C60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9DE8C4B-030F-25A4-141B-C5C95A670C23}"/>
              </a:ext>
            </a:extLst>
          </p:cNvPr>
          <p:cNvSpPr txBox="1"/>
          <p:nvPr/>
        </p:nvSpPr>
        <p:spPr>
          <a:xfrm>
            <a:off x="1676400" y="6320135"/>
            <a:ext cx="10377785" cy="461665"/>
          </a:xfrm>
          <a:prstGeom prst="rect">
            <a:avLst/>
          </a:prstGeom>
          <a:noFill/>
        </p:spPr>
        <p:txBody>
          <a:bodyPr wrap="square">
            <a:spAutoFit/>
          </a:bodyPr>
          <a:lstStyle/>
          <a:p>
            <a:pPr algn="ctr" eaLnBrk="1" hangingPunct="1">
              <a:spcAft>
                <a:spcPts val="600"/>
              </a:spcAft>
            </a:pPr>
            <a:r>
              <a:rPr lang="en-US" altLang="en-US" sz="2400" b="1" dirty="0">
                <a:solidFill>
                  <a:schemeClr val="bg1"/>
                </a:solidFill>
                <a:latin typeface="Century Schoolbook" pitchFamily="18" charset="0"/>
                <a:ea typeface="Aharoni" pitchFamily="2" charset="0"/>
                <a:cs typeface="Aharoni" pitchFamily="2" charset="0"/>
              </a:rPr>
              <a:t>Department of  Electronics and Communication Engineering</a:t>
            </a:r>
          </a:p>
        </p:txBody>
      </p:sp>
    </p:spTree>
    <p:extLst>
      <p:ext uri="{BB962C8B-B14F-4D97-AF65-F5344CB8AC3E}">
        <p14:creationId xmlns:p14="http://schemas.microsoft.com/office/powerpoint/2010/main" val="2950156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9FD97F-DC02-965D-6C90-6F217450F662}"/>
            </a:ext>
          </a:extLst>
        </p:cNvPr>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2CACA40E-FED3-8EAF-32FA-02F404BE75D9}"/>
              </a:ext>
            </a:extLst>
          </p:cNvPr>
          <p:cNvPicPr>
            <a:picLocks noChangeAspect="1"/>
          </p:cNvPicPr>
          <p:nvPr/>
        </p:nvPicPr>
        <p:blipFill>
          <a:blip r:embed="rId2"/>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19EBFCCF-1976-FD07-BF57-5ED162186AF1}"/>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21384063-89C0-074F-CBA6-AD380A243354}"/>
              </a:ext>
            </a:extLst>
          </p:cNvPr>
          <p:cNvPicPr>
            <a:picLocks noChangeAspect="1"/>
          </p:cNvPicPr>
          <p:nvPr/>
        </p:nvPicPr>
        <p:blipFill>
          <a:blip r:embed="rId2"/>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6FFB9136-D7B9-ABB1-6D2B-A3C7B807FCB7}"/>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9F49A769-E790-353F-BE74-10F3F0857AE6}"/>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03A8E75E-637B-F58A-7E84-1383E7F7715E}"/>
              </a:ext>
            </a:extLst>
          </p:cNvPr>
          <p:cNvSpPr>
            <a:spLocks noGrp="1"/>
          </p:cNvSpPr>
          <p:nvPr>
            <p:ph type="sldNum" sz="quarter" idx="7"/>
          </p:nvPr>
        </p:nvSpPr>
        <p:spPr/>
        <p:txBody>
          <a:bodyPr/>
          <a:lstStyle/>
          <a:p>
            <a:fld id="{B6F15528-21DE-4FAA-801E-634DDDAF4B2B}" type="slidenum">
              <a:rPr lang="en-IN" smtClean="0"/>
              <a:pPr/>
              <a:t>6</a:t>
            </a:fld>
            <a:endParaRPr lang="en-IN"/>
          </a:p>
        </p:txBody>
      </p:sp>
      <p:sp>
        <p:nvSpPr>
          <p:cNvPr id="9" name="Text Placeholder 2">
            <a:extLst>
              <a:ext uri="{FF2B5EF4-FFF2-40B4-BE49-F238E27FC236}">
                <a16:creationId xmlns:a16="http://schemas.microsoft.com/office/drawing/2014/main" id="{B3C869FD-A7C5-FE9E-73A1-7750EB24FA01}"/>
              </a:ext>
            </a:extLst>
          </p:cNvPr>
          <p:cNvSpPr>
            <a:spLocks noGrp="1"/>
          </p:cNvSpPr>
          <p:nvPr>
            <p:ph type="body" idx="1"/>
          </p:nvPr>
        </p:nvSpPr>
        <p:spPr>
          <a:xfrm>
            <a:off x="526573" y="1048788"/>
            <a:ext cx="10364216" cy="4128502"/>
          </a:xfrm>
        </p:spPr>
        <p:txBody>
          <a:bodyPr/>
          <a:lstStyle/>
          <a:p>
            <a:r>
              <a:rPr lang="en-IN" sz="3200" b="1" u="sng" dirty="0">
                <a:latin typeface="Times New Roman" panose="02020603050405020304" pitchFamily="18" charset="0"/>
                <a:cs typeface="Times New Roman" panose="02020603050405020304" pitchFamily="18" charset="0"/>
              </a:rPr>
              <a:t>LIST OF MODULUES</a:t>
            </a:r>
          </a:p>
          <a:p>
            <a:endParaRPr lang="en-IN" sz="2400" b="1" u="sng"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 Vibration Signal Acquisition Module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Data Acquisition and Microcontroller Module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Signal Processing Module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Feature Extraction Module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Machine Learning Classification Module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Monitoring Dashboard Module</a:t>
            </a:r>
          </a:p>
        </p:txBody>
      </p:sp>
      <p:pic>
        <p:nvPicPr>
          <p:cNvPr id="1026" name="Picture 2" descr="C:\Users\ADMIN\Downloads\prathyusha newone (2).png">
            <a:extLst>
              <a:ext uri="{FF2B5EF4-FFF2-40B4-BE49-F238E27FC236}">
                <a16:creationId xmlns:a16="http://schemas.microsoft.com/office/drawing/2014/main" id="{14B4A70E-6464-0E5B-0A49-01E772C306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a:extLst>
              <a:ext uri="{FF2B5EF4-FFF2-40B4-BE49-F238E27FC236}">
                <a16:creationId xmlns:a16="http://schemas.microsoft.com/office/drawing/2014/main" id="{DF5FC3C7-BD15-6905-8F04-F62F0B83D6E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D83D7833-9ABF-5D89-C75E-F3AE205F12C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280188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378AEB-B04F-87F6-6345-88705797A127}"/>
            </a:ext>
          </a:extLst>
        </p:cNvPr>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72853444-99EE-4940-B240-3651FD6D6C79}"/>
              </a:ext>
            </a:extLst>
          </p:cNvPr>
          <p:cNvPicPr>
            <a:picLocks noChangeAspect="1"/>
          </p:cNvPicPr>
          <p:nvPr/>
        </p:nvPicPr>
        <p:blipFill>
          <a:blip r:embed="rId2"/>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CF8A0BC0-1624-D231-7F61-E534537D94A4}"/>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31D6B95A-8B50-0B9A-F2A7-0654DC3EF099}"/>
              </a:ext>
            </a:extLst>
          </p:cNvPr>
          <p:cNvPicPr>
            <a:picLocks noChangeAspect="1"/>
          </p:cNvPicPr>
          <p:nvPr/>
        </p:nvPicPr>
        <p:blipFill>
          <a:blip r:embed="rId2"/>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00272FDC-7BF0-E825-F9E6-09660457CE66}"/>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84C2207E-47DA-97CF-0424-0E262861B7EE}"/>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1B9F05B0-6457-FC45-6638-90301EF8D3EF}"/>
              </a:ext>
            </a:extLst>
          </p:cNvPr>
          <p:cNvSpPr>
            <a:spLocks noGrp="1"/>
          </p:cNvSpPr>
          <p:nvPr>
            <p:ph type="sldNum" sz="quarter" idx="7"/>
          </p:nvPr>
        </p:nvSpPr>
        <p:spPr/>
        <p:txBody>
          <a:bodyPr/>
          <a:lstStyle/>
          <a:p>
            <a:fld id="{B6F15528-21DE-4FAA-801E-634DDDAF4B2B}" type="slidenum">
              <a:rPr lang="en-IN" smtClean="0"/>
              <a:pPr/>
              <a:t>7</a:t>
            </a:fld>
            <a:endParaRPr lang="en-IN"/>
          </a:p>
        </p:txBody>
      </p:sp>
      <p:sp>
        <p:nvSpPr>
          <p:cNvPr id="9" name="Text Placeholder 2">
            <a:extLst>
              <a:ext uri="{FF2B5EF4-FFF2-40B4-BE49-F238E27FC236}">
                <a16:creationId xmlns:a16="http://schemas.microsoft.com/office/drawing/2014/main" id="{E8A34A03-3FD0-22F8-AF72-F26664E33332}"/>
              </a:ext>
            </a:extLst>
          </p:cNvPr>
          <p:cNvSpPr>
            <a:spLocks noGrp="1"/>
          </p:cNvSpPr>
          <p:nvPr>
            <p:ph type="body" idx="1"/>
          </p:nvPr>
        </p:nvSpPr>
        <p:spPr>
          <a:xfrm>
            <a:off x="469763" y="1048235"/>
            <a:ext cx="11862073" cy="5460167"/>
          </a:xfrm>
        </p:spPr>
        <p:txBody>
          <a:bodyPr/>
          <a:lstStyle/>
          <a:p>
            <a:r>
              <a:rPr lang="en-IN" sz="2800" b="1" u="sng" dirty="0">
                <a:latin typeface="Times New Roman" panose="02020603050405020304" pitchFamily="18" charset="0"/>
                <a:cs typeface="Times New Roman" panose="02020603050405020304" pitchFamily="18" charset="0"/>
              </a:rPr>
              <a:t>MODULE DESCRIPTION</a:t>
            </a:r>
            <a:endParaRPr lang="en-IN" sz="2400" b="1" u="sng" dirty="0">
              <a:latin typeface="Times New Roman" panose="02020603050405020304" pitchFamily="18" charset="0"/>
              <a:cs typeface="Times New Roman" panose="02020603050405020304" pitchFamily="18" charset="0"/>
            </a:endParaRPr>
          </a:p>
          <a:p>
            <a:endParaRPr lang="en-IN" sz="2000" b="1" u="sng" dirty="0">
              <a:latin typeface="Times New Roman" panose="02020603050405020304" pitchFamily="18" charset="0"/>
              <a:cs typeface="Times New Roman" panose="02020603050405020304" pitchFamily="18" charset="0"/>
            </a:endParaRPr>
          </a:p>
          <a:p>
            <a:r>
              <a:rPr lang="en-IN" sz="2000" b="1" u="sng" dirty="0">
                <a:latin typeface="Times New Roman" panose="02020603050405020304" pitchFamily="18" charset="0"/>
                <a:cs typeface="Times New Roman" panose="02020603050405020304" pitchFamily="18" charset="0"/>
              </a:rPr>
              <a:t>Data Acquisition Module</a:t>
            </a:r>
          </a:p>
          <a:p>
            <a:r>
              <a:rPr lang="en-IN" sz="2000" dirty="0">
                <a:latin typeface="Times New Roman" panose="02020603050405020304" pitchFamily="18" charset="0"/>
                <a:cs typeface="Times New Roman" panose="02020603050405020304" pitchFamily="18" charset="0"/>
              </a:rPr>
              <a:t>ESP32 microcontroller collects vibration data from the sensor through </a:t>
            </a:r>
            <a:r>
              <a:rPr lang="en-IN" sz="2000" b="1" dirty="0">
                <a:latin typeface="Times New Roman" panose="02020603050405020304" pitchFamily="18" charset="0"/>
                <a:cs typeface="Times New Roman" panose="02020603050405020304" pitchFamily="18" charset="0"/>
              </a:rPr>
              <a:t>I²C communication</a:t>
            </a:r>
            <a:r>
              <a:rPr lang="en-IN" sz="2000" dirty="0">
                <a:latin typeface="Times New Roman" panose="02020603050405020304" pitchFamily="18" charset="0"/>
                <a:cs typeface="Times New Roman" panose="02020603050405020304" pitchFamily="18" charset="0"/>
              </a:rPr>
              <a:t>.</a:t>
            </a:r>
          </a:p>
          <a:p>
            <a:r>
              <a:rPr lang="en-IN" sz="2000" b="1" u="sng" dirty="0">
                <a:latin typeface="Times New Roman" panose="02020603050405020304" pitchFamily="18" charset="0"/>
                <a:cs typeface="Times New Roman" panose="02020603050405020304" pitchFamily="18" charset="0"/>
              </a:rPr>
              <a:t>Feature Extraction Module</a:t>
            </a:r>
          </a:p>
          <a:p>
            <a:r>
              <a:rPr lang="en-IN" sz="2000" dirty="0">
                <a:latin typeface="Times New Roman" panose="02020603050405020304" pitchFamily="18" charset="0"/>
                <a:cs typeface="Times New Roman" panose="02020603050405020304" pitchFamily="18" charset="0"/>
              </a:rPr>
              <a:t>Statistical parameters such as </a:t>
            </a:r>
            <a:r>
              <a:rPr lang="en-IN" sz="2000" b="1" dirty="0">
                <a:latin typeface="Times New Roman" panose="02020603050405020304" pitchFamily="18" charset="0"/>
                <a:cs typeface="Times New Roman" panose="02020603050405020304" pitchFamily="18" charset="0"/>
              </a:rPr>
              <a:t>RMS, </a:t>
            </a:r>
            <a:r>
              <a:rPr lang="en-IN" sz="2000" b="1" dirty="0" err="1">
                <a:latin typeface="Times New Roman" panose="02020603050405020304" pitchFamily="18" charset="0"/>
                <a:cs typeface="Times New Roman" panose="02020603050405020304" pitchFamily="18" charset="0"/>
              </a:rPr>
              <a:t>Peak,Standard</a:t>
            </a:r>
            <a:r>
              <a:rPr lang="en-IN" sz="2000" b="1" dirty="0">
                <a:latin typeface="Times New Roman" panose="02020603050405020304" pitchFamily="18" charset="0"/>
                <a:cs typeface="Times New Roman" panose="02020603050405020304" pitchFamily="18" charset="0"/>
              </a:rPr>
              <a:t> Deviation, and Kurtosis</a:t>
            </a:r>
            <a:r>
              <a:rPr lang="en-IN" sz="2000" dirty="0">
                <a:latin typeface="Times New Roman" panose="02020603050405020304" pitchFamily="18" charset="0"/>
                <a:cs typeface="Times New Roman" panose="02020603050405020304" pitchFamily="18" charset="0"/>
              </a:rPr>
              <a:t> are extracted using accelerometer</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b="1" u="sng" dirty="0">
              <a:latin typeface="Times New Roman" panose="02020603050405020304" pitchFamily="18" charset="0"/>
              <a:cs typeface="Times New Roman" panose="02020603050405020304" pitchFamily="18" charset="0"/>
            </a:endParaRPr>
          </a:p>
          <a:p>
            <a:endParaRPr lang="en-IN" sz="2000" b="1" u="sng" dirty="0">
              <a:latin typeface="Times New Roman" panose="02020603050405020304" pitchFamily="18" charset="0"/>
              <a:cs typeface="Times New Roman" panose="02020603050405020304" pitchFamily="18" charset="0"/>
            </a:endParaRPr>
          </a:p>
          <a:p>
            <a:endParaRPr lang="en-IN" sz="2000" b="1" u="sng" dirty="0">
              <a:latin typeface="Times New Roman" panose="02020603050405020304" pitchFamily="18" charset="0"/>
              <a:cs typeface="Times New Roman" panose="02020603050405020304" pitchFamily="18" charset="0"/>
            </a:endParaRPr>
          </a:p>
          <a:p>
            <a:r>
              <a:rPr lang="en-IN" sz="2000" b="1" u="sng" dirty="0">
                <a:latin typeface="Times New Roman" panose="02020603050405020304" pitchFamily="18" charset="0"/>
                <a:cs typeface="Times New Roman" panose="02020603050405020304" pitchFamily="18" charset="0"/>
              </a:rPr>
              <a:t>Machine Learning Module</a:t>
            </a:r>
          </a:p>
          <a:p>
            <a:r>
              <a:rPr lang="en-IN" sz="2000" dirty="0">
                <a:latin typeface="Times New Roman" panose="02020603050405020304" pitchFamily="18" charset="0"/>
                <a:cs typeface="Times New Roman" panose="02020603050405020304" pitchFamily="18" charset="0"/>
              </a:rPr>
              <a:t>Algorithms used: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Random Forest</a:t>
            </a:r>
            <a:endParaRPr lang="en-IN" sz="2000" dirty="0">
              <a:latin typeface="Times New Roman" panose="02020603050405020304" pitchFamily="18" charset="0"/>
              <a:cs typeface="Times New Roman" panose="02020603050405020304" pitchFamily="18" charset="0"/>
            </a:endParaRPr>
          </a:p>
          <a:p>
            <a:r>
              <a:rPr lang="en-IN" sz="2000" b="1" u="sng" dirty="0">
                <a:latin typeface="Times New Roman" panose="02020603050405020304" pitchFamily="18" charset="0"/>
                <a:cs typeface="Times New Roman" panose="02020603050405020304" pitchFamily="18" charset="0"/>
              </a:rPr>
              <a:t>Dataset used:</a:t>
            </a:r>
            <a:br>
              <a:rPr lang="en-IN" sz="2000" u="sng"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Motor vibration dataset generated from </a:t>
            </a:r>
            <a:r>
              <a:rPr lang="en-IN" sz="2000" b="1" dirty="0">
                <a:latin typeface="Times New Roman" panose="02020603050405020304" pitchFamily="18" charset="0"/>
                <a:cs typeface="Times New Roman" panose="02020603050405020304" pitchFamily="18" charset="0"/>
              </a:rPr>
              <a:t>sensor readings and simulated fault data</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1026" name="Picture 2" descr="C:\Users\ADMIN\Downloads\prathyusha newone (2).png">
            <a:extLst>
              <a:ext uri="{FF2B5EF4-FFF2-40B4-BE49-F238E27FC236}">
                <a16:creationId xmlns:a16="http://schemas.microsoft.com/office/drawing/2014/main" id="{890A3C75-5A66-239E-9E45-33879019CE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a:extLst>
              <a:ext uri="{FF2B5EF4-FFF2-40B4-BE49-F238E27FC236}">
                <a16:creationId xmlns:a16="http://schemas.microsoft.com/office/drawing/2014/main" id="{304F709F-3FEC-6620-60FE-49B2EBBE891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75CD1141-F164-309C-33C6-13FA8AF094A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83BC2BDF-638D-1722-9EFB-A82682FB98D8}"/>
              </a:ext>
            </a:extLst>
          </p:cNvPr>
          <p:cNvPicPr>
            <a:picLocks noChangeAspect="1"/>
          </p:cNvPicPr>
          <p:nvPr/>
        </p:nvPicPr>
        <p:blipFill>
          <a:blip r:embed="rId4"/>
          <a:stretch>
            <a:fillRect/>
          </a:stretch>
        </p:blipFill>
        <p:spPr>
          <a:xfrm>
            <a:off x="526572" y="3082073"/>
            <a:ext cx="8744888" cy="1371940"/>
          </a:xfrm>
          <a:prstGeom prst="rect">
            <a:avLst/>
          </a:prstGeom>
        </p:spPr>
      </p:pic>
    </p:spTree>
    <p:extLst>
      <p:ext uri="{BB962C8B-B14F-4D97-AF65-F5344CB8AC3E}">
        <p14:creationId xmlns:p14="http://schemas.microsoft.com/office/powerpoint/2010/main" val="2685496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96338AD-4765-A8A9-5CB0-F05DF5AFFAAB}"/>
            </a:ext>
          </a:extLst>
        </p:cNvPr>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8976F9BD-F163-8FC2-1D09-4141F610A948}"/>
              </a:ext>
            </a:extLst>
          </p:cNvPr>
          <p:cNvPicPr>
            <a:picLocks noChangeAspect="1"/>
          </p:cNvPicPr>
          <p:nvPr/>
        </p:nvPicPr>
        <p:blipFill>
          <a:blip r:embed="rId2"/>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D410C5BE-9ACD-590C-85A5-D6413BFF7EB3}"/>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5A419AD7-B6AB-2947-AE4A-4E8471E77557}"/>
              </a:ext>
            </a:extLst>
          </p:cNvPr>
          <p:cNvPicPr>
            <a:picLocks noChangeAspect="1"/>
          </p:cNvPicPr>
          <p:nvPr/>
        </p:nvPicPr>
        <p:blipFill>
          <a:blip r:embed="rId2"/>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62DCA025-A118-ACC9-7D04-0C92D4696CCD}"/>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8151340B-979B-51BF-631C-6AF00DD552C6}"/>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82F562BE-F589-244E-636E-D9A727D34698}"/>
              </a:ext>
            </a:extLst>
          </p:cNvPr>
          <p:cNvSpPr>
            <a:spLocks noGrp="1"/>
          </p:cNvSpPr>
          <p:nvPr>
            <p:ph type="sldNum" sz="quarter" idx="7"/>
          </p:nvPr>
        </p:nvSpPr>
        <p:spPr/>
        <p:txBody>
          <a:bodyPr/>
          <a:lstStyle/>
          <a:p>
            <a:fld id="{B6F15528-21DE-4FAA-801E-634DDDAF4B2B}" type="slidenum">
              <a:rPr lang="en-IN" smtClean="0"/>
              <a:pPr/>
              <a:t>8</a:t>
            </a:fld>
            <a:endParaRPr lang="en-IN"/>
          </a:p>
        </p:txBody>
      </p:sp>
      <p:sp>
        <p:nvSpPr>
          <p:cNvPr id="9" name="Text Placeholder 2">
            <a:extLst>
              <a:ext uri="{FF2B5EF4-FFF2-40B4-BE49-F238E27FC236}">
                <a16:creationId xmlns:a16="http://schemas.microsoft.com/office/drawing/2014/main" id="{46BBE59B-DDEE-D081-C241-FBF83306AA57}"/>
              </a:ext>
            </a:extLst>
          </p:cNvPr>
          <p:cNvSpPr>
            <a:spLocks noGrp="1"/>
          </p:cNvSpPr>
          <p:nvPr>
            <p:ph type="body" idx="1"/>
          </p:nvPr>
        </p:nvSpPr>
        <p:spPr>
          <a:xfrm>
            <a:off x="700633" y="842310"/>
            <a:ext cx="10364216" cy="2277547"/>
          </a:xfrm>
        </p:spPr>
        <p:txBody>
          <a:bodyPr/>
          <a:lstStyle/>
          <a:p>
            <a:pPr marL="285750" indent="-285750">
              <a:buFont typeface="Arial" pitchFamily="34" charset="0"/>
              <a:buChar char="•"/>
            </a:pPr>
            <a:endParaRPr lang="en-IN" sz="2000" b="1" dirty="0">
              <a:latin typeface="Times New Roman" pitchFamily="18" charset="0"/>
              <a:cs typeface="Times New Roman" pitchFamily="18" charset="0"/>
            </a:endParaRPr>
          </a:p>
          <a:p>
            <a:r>
              <a:rPr lang="en-IN" sz="2800" b="1" u="sng" dirty="0">
                <a:latin typeface="Times New Roman" panose="02020603050405020304" pitchFamily="18" charset="0"/>
                <a:cs typeface="Times New Roman" panose="02020603050405020304" pitchFamily="18" charset="0"/>
              </a:rPr>
              <a:t>System Architecture: </a:t>
            </a:r>
          </a:p>
          <a:p>
            <a:endParaRPr lang="en-IN" sz="2800" b="1" dirty="0">
              <a:latin typeface="Times New Roman" panose="02020603050405020304" pitchFamily="18" charset="0"/>
              <a:cs typeface="Times New Roman" panose="02020603050405020304" pitchFamily="18" charset="0"/>
            </a:endParaRPr>
          </a:p>
          <a:p>
            <a:endParaRPr lang="en-IN" b="1" dirty="0"/>
          </a:p>
          <a:p>
            <a:pPr marL="285750" indent="-285750">
              <a:buFont typeface="Arial" pitchFamily="34" charset="0"/>
              <a:buChar char="•"/>
            </a:pPr>
            <a:endParaRPr lang="en-IN" b="1" dirty="0"/>
          </a:p>
          <a:p>
            <a:pPr marL="285750" indent="-285750">
              <a:buFont typeface="Arial" pitchFamily="34" charset="0"/>
              <a:buChar char="•"/>
            </a:pPr>
            <a:endParaRPr lang="en-IN" b="1" dirty="0"/>
          </a:p>
          <a:p>
            <a:pPr marL="285750" indent="-285750">
              <a:buFont typeface="Arial" pitchFamily="34" charset="0"/>
              <a:buChar char="•"/>
            </a:pPr>
            <a:endParaRPr lang="en-IN" dirty="0"/>
          </a:p>
        </p:txBody>
      </p:sp>
      <p:pic>
        <p:nvPicPr>
          <p:cNvPr id="1026" name="Picture 2" descr="C:\Users\ADMIN\Downloads\prathyusha newone (2).png">
            <a:extLst>
              <a:ext uri="{FF2B5EF4-FFF2-40B4-BE49-F238E27FC236}">
                <a16:creationId xmlns:a16="http://schemas.microsoft.com/office/drawing/2014/main" id="{C4F34275-D02A-19A6-B5FD-97B3CAB666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a:extLst>
              <a:ext uri="{FF2B5EF4-FFF2-40B4-BE49-F238E27FC236}">
                <a16:creationId xmlns:a16="http://schemas.microsoft.com/office/drawing/2014/main" id="{8A23EFC8-68B6-757F-5514-86E5C738D9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B2E91ADA-C05E-962B-5F59-1F69B200EFA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F59350F8-0450-B8A4-B855-BD9E6B781AA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60597" y="1910458"/>
            <a:ext cx="9070805" cy="3905569"/>
          </a:xfrm>
          <a:prstGeom prst="rect">
            <a:avLst/>
          </a:prstGeom>
          <a:noFill/>
          <a:ln>
            <a:noFill/>
          </a:ln>
        </p:spPr>
      </p:pic>
    </p:spTree>
    <p:extLst>
      <p:ext uri="{BB962C8B-B14F-4D97-AF65-F5344CB8AC3E}">
        <p14:creationId xmlns:p14="http://schemas.microsoft.com/office/powerpoint/2010/main" val="1713888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AEA48-30D5-EE32-212F-3B5550327F5B}"/>
            </a:ext>
          </a:extLst>
        </p:cNvPr>
        <p:cNvGrpSpPr/>
        <p:nvPr/>
      </p:nvGrpSpPr>
      <p:grpSpPr>
        <a:xfrm>
          <a:off x="0" y="0"/>
          <a:ext cx="0" cy="0"/>
          <a:chOff x="0" y="0"/>
          <a:chExt cx="0" cy="0"/>
        </a:xfrm>
      </p:grpSpPr>
      <p:grpSp>
        <p:nvGrpSpPr>
          <p:cNvPr id="44" name="Group 4">
            <a:extLst>
              <a:ext uri="{FF2B5EF4-FFF2-40B4-BE49-F238E27FC236}">
                <a16:creationId xmlns:a16="http://schemas.microsoft.com/office/drawing/2014/main" id="{5E2934D6-5D47-99FF-06AF-BAA6B30F7B42}"/>
              </a:ext>
            </a:extLst>
          </p:cNvPr>
          <p:cNvGrpSpPr>
            <a:grpSpLocks noChangeAspect="1"/>
          </p:cNvGrpSpPr>
          <p:nvPr/>
        </p:nvGrpSpPr>
        <p:grpSpPr>
          <a:xfrm>
            <a:off x="1114107" y="1"/>
            <a:ext cx="11077893" cy="761999"/>
            <a:chOff x="2228213" y="0"/>
            <a:chExt cx="22155787" cy="1523999"/>
          </a:xfrm>
        </p:grpSpPr>
        <p:sp>
          <p:nvSpPr>
            <p:cNvPr id="1048629" name="Freeform 5" descr="ppt-2.jpg">
              <a:extLst>
                <a:ext uri="{FF2B5EF4-FFF2-40B4-BE49-F238E27FC236}">
                  <a16:creationId xmlns:a16="http://schemas.microsoft.com/office/drawing/2014/main" id="{5DD941B6-891F-4631-393D-7008C7CC663E}"/>
                </a:ext>
              </a:extLst>
            </p:cNvPr>
            <p:cNvSpPr/>
            <p:nvPr/>
          </p:nvSpPr>
          <p:spPr>
            <a:xfrm>
              <a:off x="2228213" y="0"/>
              <a:ext cx="22155787" cy="1523999"/>
            </a:xfrm>
            <a:custGeom>
              <a:avLst/>
              <a:gdLst/>
              <a:ahLst/>
              <a:cxnLst/>
              <a:rect l="l" t="t" r="r" b="b"/>
              <a:pathLst>
                <a:path w="24384000" h="1524000">
                  <a:moveTo>
                    <a:pt x="0" y="0"/>
                  </a:moveTo>
                  <a:lnTo>
                    <a:pt x="24384000" y="0"/>
                  </a:lnTo>
                  <a:lnTo>
                    <a:pt x="24384000" y="1524000"/>
                  </a:lnTo>
                  <a:lnTo>
                    <a:pt x="0" y="1524000"/>
                  </a:lnTo>
                  <a:lnTo>
                    <a:pt x="0" y="0"/>
                  </a:lnTo>
                  <a:close/>
                </a:path>
              </a:pathLst>
            </a:custGeom>
            <a:blipFill>
              <a:blip r:embed="rId2"/>
              <a:stretch>
                <a:fillRect l="-10057" r="-55449"/>
              </a:stretch>
            </a:blipFill>
          </p:spPr>
        </p:sp>
      </p:grpSp>
      <p:sp>
        <p:nvSpPr>
          <p:cNvPr id="1048630" name="TextBox 8">
            <a:extLst>
              <a:ext uri="{FF2B5EF4-FFF2-40B4-BE49-F238E27FC236}">
                <a16:creationId xmlns:a16="http://schemas.microsoft.com/office/drawing/2014/main" id="{1155B132-7009-E7CE-12B0-9EFB84A4C297}"/>
              </a:ext>
            </a:extLst>
          </p:cNvPr>
          <p:cNvSpPr txBox="1"/>
          <p:nvPr/>
        </p:nvSpPr>
        <p:spPr>
          <a:xfrm>
            <a:off x="1114107" y="34422"/>
            <a:ext cx="10317479" cy="615553"/>
          </a:xfrm>
          <a:prstGeom prst="rect">
            <a:avLst/>
          </a:prstGeom>
        </p:spPr>
        <p:txBody>
          <a:bodyPr lIns="0" tIns="0" rIns="0" bIns="0" rtlCol="0" anchor="t">
            <a:spAutoFit/>
          </a:bodyPr>
          <a:lstStyle/>
          <a:p>
            <a:pPr algn="ctr">
              <a:lnSpc>
                <a:spcPts val="2880"/>
              </a:lnSpc>
            </a:pPr>
            <a:r>
              <a:rPr lang="en-US" sz="2400" b="1">
                <a:solidFill>
                  <a:srgbClr val="FFFFFF"/>
                </a:solidFill>
                <a:latin typeface="Times New Roman Bold"/>
                <a:ea typeface="Times New Roman Bold"/>
                <a:cs typeface="Times New Roman Bold"/>
                <a:sym typeface="Times New Roman Bold"/>
              </a:rPr>
              <a:t>PRATHYUSHA ENGINEERING COLLEGE</a:t>
            </a:r>
          </a:p>
          <a:p>
            <a:pPr algn="ctr">
              <a:lnSpc>
                <a:spcPts val="1919"/>
              </a:lnSpc>
            </a:pPr>
            <a:r>
              <a:rPr lang="en-US" sz="1600" b="1">
                <a:solidFill>
                  <a:srgbClr val="FFFFFF"/>
                </a:solidFill>
                <a:latin typeface="Times New Roman Bold"/>
                <a:ea typeface="Times New Roman Bold"/>
                <a:cs typeface="Times New Roman Bold"/>
                <a:sym typeface="Times New Roman Bold"/>
              </a:rPr>
              <a:t>(An AUTONOMOUS INSTITUTION)</a:t>
            </a:r>
          </a:p>
        </p:txBody>
      </p:sp>
      <p:grpSp>
        <p:nvGrpSpPr>
          <p:cNvPr id="45" name="Group 9">
            <a:extLst>
              <a:ext uri="{FF2B5EF4-FFF2-40B4-BE49-F238E27FC236}">
                <a16:creationId xmlns:a16="http://schemas.microsoft.com/office/drawing/2014/main" id="{528EDEB1-53DE-5BBC-632F-9F169C749966}"/>
              </a:ext>
            </a:extLst>
          </p:cNvPr>
          <p:cNvGrpSpPr>
            <a:grpSpLocks noChangeAspect="1"/>
          </p:cNvGrpSpPr>
          <p:nvPr/>
        </p:nvGrpSpPr>
        <p:grpSpPr>
          <a:xfrm>
            <a:off x="761999" y="6312935"/>
            <a:ext cx="11430001" cy="522073"/>
            <a:chOff x="0" y="0"/>
            <a:chExt cx="22860002" cy="1044146"/>
          </a:xfrm>
        </p:grpSpPr>
        <p:sp>
          <p:nvSpPr>
            <p:cNvPr id="1048631" name="Freeform 10" descr="ppt-2.jpg">
              <a:extLst>
                <a:ext uri="{FF2B5EF4-FFF2-40B4-BE49-F238E27FC236}">
                  <a16:creationId xmlns:a16="http://schemas.microsoft.com/office/drawing/2014/main" id="{F59BE284-6CA9-3289-9464-4C86B43E9240}"/>
                </a:ext>
              </a:extLst>
            </p:cNvPr>
            <p:cNvSpPr/>
            <p:nvPr/>
          </p:nvSpPr>
          <p:spPr>
            <a:xfrm>
              <a:off x="0" y="0"/>
              <a:ext cx="22860000" cy="1044194"/>
            </a:xfrm>
            <a:custGeom>
              <a:avLst/>
              <a:gdLst/>
              <a:ahLst/>
              <a:cxnLst/>
              <a:rect l="l" t="t" r="r" b="b"/>
              <a:pathLst>
                <a:path w="22860000" h="1044194">
                  <a:moveTo>
                    <a:pt x="0" y="0"/>
                  </a:moveTo>
                  <a:lnTo>
                    <a:pt x="22860000" y="0"/>
                  </a:lnTo>
                  <a:lnTo>
                    <a:pt x="22860000" y="1044194"/>
                  </a:lnTo>
                  <a:lnTo>
                    <a:pt x="0" y="1044194"/>
                  </a:lnTo>
                  <a:lnTo>
                    <a:pt x="0" y="0"/>
                  </a:lnTo>
                  <a:close/>
                </a:path>
              </a:pathLst>
            </a:custGeom>
            <a:blipFill>
              <a:blip r:embed="rId2"/>
              <a:stretch>
                <a:fillRect r="-9901" b="4"/>
              </a:stretch>
            </a:blipFill>
          </p:spPr>
        </p:sp>
      </p:grpSp>
      <p:sp>
        <p:nvSpPr>
          <p:cNvPr id="1048632" name="TextBox 11">
            <a:extLst>
              <a:ext uri="{FF2B5EF4-FFF2-40B4-BE49-F238E27FC236}">
                <a16:creationId xmlns:a16="http://schemas.microsoft.com/office/drawing/2014/main" id="{1D97559F-E787-8CFE-8BCA-34A732EB5476}"/>
              </a:ext>
            </a:extLst>
          </p:cNvPr>
          <p:cNvSpPr txBox="1"/>
          <p:nvPr/>
        </p:nvSpPr>
        <p:spPr>
          <a:xfrm>
            <a:off x="137160" y="6259830"/>
            <a:ext cx="778827" cy="348942"/>
          </a:xfrm>
          <a:prstGeom prst="rect">
            <a:avLst/>
          </a:prstGeom>
        </p:spPr>
        <p:txBody>
          <a:bodyPr lIns="0" tIns="0" rIns="0" bIns="0" rtlCol="0" anchor="t">
            <a:spAutoFit/>
          </a:bodyPr>
          <a:lstStyle/>
          <a:p>
            <a:pPr algn="ctr">
              <a:lnSpc>
                <a:spcPts val="2880"/>
              </a:lnSpc>
            </a:pPr>
            <a:r>
              <a:rPr lang="en-US" sz="2400" b="1">
                <a:solidFill>
                  <a:srgbClr val="960000"/>
                </a:solidFill>
                <a:latin typeface="Arial"/>
                <a:ea typeface="Arial"/>
                <a:cs typeface="Arial"/>
                <a:sym typeface="Arial"/>
              </a:rPr>
              <a:t>ECE</a:t>
            </a:r>
          </a:p>
        </p:txBody>
      </p:sp>
      <p:sp>
        <p:nvSpPr>
          <p:cNvPr id="1048634" name="TextBox 13">
            <a:extLst>
              <a:ext uri="{FF2B5EF4-FFF2-40B4-BE49-F238E27FC236}">
                <a16:creationId xmlns:a16="http://schemas.microsoft.com/office/drawing/2014/main" id="{06B705A6-01F6-6131-0F69-2ADAEFE4C879}"/>
              </a:ext>
            </a:extLst>
          </p:cNvPr>
          <p:cNvSpPr txBox="1"/>
          <p:nvPr/>
        </p:nvSpPr>
        <p:spPr>
          <a:xfrm>
            <a:off x="8778240" y="6339840"/>
            <a:ext cx="2804160" cy="264175"/>
          </a:xfrm>
          <a:prstGeom prst="rect">
            <a:avLst/>
          </a:prstGeom>
        </p:spPr>
        <p:txBody>
          <a:bodyPr lIns="0" tIns="0" rIns="0" bIns="0" rtlCol="0" anchor="t">
            <a:spAutoFit/>
          </a:bodyPr>
          <a:lstStyle/>
          <a:p>
            <a:pPr algn="r">
              <a:lnSpc>
                <a:spcPts val="2160"/>
              </a:lnSpc>
            </a:pPr>
            <a:r>
              <a:rPr lang="en-US">
                <a:solidFill>
                  <a:srgbClr val="898989"/>
                </a:solidFill>
                <a:latin typeface="Calibri (MS)"/>
                <a:ea typeface="Calibri (MS)"/>
                <a:cs typeface="Calibri (MS)"/>
                <a:sym typeface="Calibri (MS)"/>
              </a:rPr>
              <a:t>2</a:t>
            </a:r>
          </a:p>
        </p:txBody>
      </p:sp>
      <p:pic>
        <p:nvPicPr>
          <p:cNvPr id="2097158" name="Picture 13">
            <a:extLst>
              <a:ext uri="{FF2B5EF4-FFF2-40B4-BE49-F238E27FC236}">
                <a16:creationId xmlns:a16="http://schemas.microsoft.com/office/drawing/2014/main" id="{A006907A-6299-D532-3883-7A740E8A5FFF}"/>
              </a:ext>
            </a:extLst>
          </p:cNvPr>
          <p:cNvPicPr>
            <a:picLocks noChangeAspect="1"/>
          </p:cNvPicPr>
          <p:nvPr/>
        </p:nvPicPr>
        <p:blipFill>
          <a:blip r:embed="rId3"/>
          <a:srcRect t="1306"/>
          <a:stretch>
            <a:fillRect/>
          </a:stretch>
        </p:blipFill>
        <p:spPr>
          <a:xfrm>
            <a:off x="137160" y="22968"/>
            <a:ext cx="1026477" cy="864845"/>
          </a:xfrm>
          <a:prstGeom prst="rect">
            <a:avLst/>
          </a:prstGeom>
        </p:spPr>
      </p:pic>
      <p:sp>
        <p:nvSpPr>
          <p:cNvPr id="1048635" name="TextBox 1">
            <a:extLst>
              <a:ext uri="{FF2B5EF4-FFF2-40B4-BE49-F238E27FC236}">
                <a16:creationId xmlns:a16="http://schemas.microsoft.com/office/drawing/2014/main" id="{CC77616F-5377-43A4-7AEE-BD6C0264571D}"/>
              </a:ext>
            </a:extLst>
          </p:cNvPr>
          <p:cNvSpPr txBox="1"/>
          <p:nvPr/>
        </p:nvSpPr>
        <p:spPr>
          <a:xfrm>
            <a:off x="2072356" y="526387"/>
            <a:ext cx="8400980" cy="718466"/>
          </a:xfrm>
          <a:prstGeom prst="rect">
            <a:avLst/>
          </a:prstGeom>
          <a:noFill/>
        </p:spPr>
        <p:txBody>
          <a:bodyPr wrap="square" rtlCol="0">
            <a:spAutoFit/>
          </a:bodyPr>
          <a:lstStyle/>
          <a:p>
            <a:pPr>
              <a:lnSpc>
                <a:spcPct val="200000"/>
              </a:lnSpc>
            </a:pPr>
            <a:r>
              <a:rPr lang="en-IN" sz="2400" b="1" u="sng" dirty="0">
                <a:latin typeface="Times New Roman" panose="02020603050405020304" pitchFamily="18" charset="0"/>
                <a:cs typeface="Times New Roman" panose="02020603050405020304" pitchFamily="18" charset="0"/>
              </a:rPr>
              <a:t>EXPERIMENTAL RESULTS– Vibration Signal Acquisition</a:t>
            </a:r>
          </a:p>
        </p:txBody>
      </p:sp>
      <p:sp>
        <p:nvSpPr>
          <p:cNvPr id="1048737" name="TextBox 12">
            <a:extLst>
              <a:ext uri="{FF2B5EF4-FFF2-40B4-BE49-F238E27FC236}">
                <a16:creationId xmlns:a16="http://schemas.microsoft.com/office/drawing/2014/main" id="{FD77A734-F08C-27F3-F55F-B6A600748C77}"/>
              </a:ext>
            </a:extLst>
          </p:cNvPr>
          <p:cNvSpPr txBox="1"/>
          <p:nvPr/>
        </p:nvSpPr>
        <p:spPr>
          <a:xfrm>
            <a:off x="1737360" y="6350615"/>
            <a:ext cx="10255865" cy="3577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ts val="2880"/>
              </a:lnSpc>
            </a:pPr>
            <a:r>
              <a:rPr lang="en-US" sz="2400" b="1" spc="-37">
                <a:solidFill>
                  <a:srgbClr val="FFFFFF"/>
                </a:solidFill>
                <a:latin typeface="Trirong Bold"/>
                <a:ea typeface="Trirong Bold"/>
                <a:cs typeface="Trirong Bold"/>
                <a:sym typeface="Trirong Bold"/>
              </a:rPr>
              <a:t>Department of Electronics and communication Engineering</a:t>
            </a:r>
            <a:endParaRPr lang="zh-CN" altLang="en-US" sz="1200"/>
          </a:p>
        </p:txBody>
      </p:sp>
      <p:pic>
        <p:nvPicPr>
          <p:cNvPr id="2" name="object 5">
            <a:extLst>
              <a:ext uri="{FF2B5EF4-FFF2-40B4-BE49-F238E27FC236}">
                <a16:creationId xmlns:a16="http://schemas.microsoft.com/office/drawing/2014/main" id="{3F78CEB5-4CFB-A9E5-408D-CCE2FC24AD29}"/>
              </a:ext>
            </a:extLst>
          </p:cNvPr>
          <p:cNvPicPr/>
          <p:nvPr/>
        </p:nvPicPr>
        <p:blipFill>
          <a:blip r:embed="rId4" cstate="print"/>
          <a:stretch>
            <a:fillRect/>
          </a:stretch>
        </p:blipFill>
        <p:spPr>
          <a:xfrm>
            <a:off x="2627473" y="1342730"/>
            <a:ext cx="6487029" cy="3906622"/>
          </a:xfrm>
          <a:prstGeom prst="rect">
            <a:avLst/>
          </a:prstGeom>
        </p:spPr>
      </p:pic>
      <p:sp>
        <p:nvSpPr>
          <p:cNvPr id="8" name="TextBox 7">
            <a:extLst>
              <a:ext uri="{FF2B5EF4-FFF2-40B4-BE49-F238E27FC236}">
                <a16:creationId xmlns:a16="http://schemas.microsoft.com/office/drawing/2014/main" id="{D70469CA-9F96-9141-3475-43E4D49CE1E1}"/>
              </a:ext>
            </a:extLst>
          </p:cNvPr>
          <p:cNvSpPr txBox="1"/>
          <p:nvPr/>
        </p:nvSpPr>
        <p:spPr>
          <a:xfrm>
            <a:off x="3920367" y="5485680"/>
            <a:ext cx="4351265"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VIBRATION SIGNALS WHICH IS SENT FROM ACCELEROMETER TO ESP32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9528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02D7-B421-DEE0-9342-CF16F355F9DB}"/>
            </a:ext>
          </a:extLst>
        </p:cNvPr>
        <p:cNvGrpSpPr/>
        <p:nvPr/>
      </p:nvGrpSpPr>
      <p:grpSpPr>
        <a:xfrm>
          <a:off x="0" y="0"/>
          <a:ext cx="0" cy="0"/>
          <a:chOff x="0" y="0"/>
          <a:chExt cx="0" cy="0"/>
        </a:xfrm>
      </p:grpSpPr>
      <p:grpSp>
        <p:nvGrpSpPr>
          <p:cNvPr id="44" name="Group 4">
            <a:extLst>
              <a:ext uri="{FF2B5EF4-FFF2-40B4-BE49-F238E27FC236}">
                <a16:creationId xmlns:a16="http://schemas.microsoft.com/office/drawing/2014/main" id="{D9A58D92-2A0A-04BA-874C-59607DF23F6B}"/>
              </a:ext>
            </a:extLst>
          </p:cNvPr>
          <p:cNvGrpSpPr>
            <a:grpSpLocks noChangeAspect="1"/>
          </p:cNvGrpSpPr>
          <p:nvPr/>
        </p:nvGrpSpPr>
        <p:grpSpPr>
          <a:xfrm>
            <a:off x="1114107" y="1"/>
            <a:ext cx="11077893" cy="761999"/>
            <a:chOff x="2228213" y="0"/>
            <a:chExt cx="22155787" cy="1523999"/>
          </a:xfrm>
        </p:grpSpPr>
        <p:sp>
          <p:nvSpPr>
            <p:cNvPr id="1048629" name="Freeform 5" descr="ppt-2.jpg">
              <a:extLst>
                <a:ext uri="{FF2B5EF4-FFF2-40B4-BE49-F238E27FC236}">
                  <a16:creationId xmlns:a16="http://schemas.microsoft.com/office/drawing/2014/main" id="{4EB15FCC-0C6D-15AA-EAB5-579A78247760}"/>
                </a:ext>
              </a:extLst>
            </p:cNvPr>
            <p:cNvSpPr/>
            <p:nvPr/>
          </p:nvSpPr>
          <p:spPr>
            <a:xfrm>
              <a:off x="2228213" y="0"/>
              <a:ext cx="22155787" cy="1523999"/>
            </a:xfrm>
            <a:custGeom>
              <a:avLst/>
              <a:gdLst/>
              <a:ahLst/>
              <a:cxnLst/>
              <a:rect l="l" t="t" r="r" b="b"/>
              <a:pathLst>
                <a:path w="24384000" h="1524000">
                  <a:moveTo>
                    <a:pt x="0" y="0"/>
                  </a:moveTo>
                  <a:lnTo>
                    <a:pt x="24384000" y="0"/>
                  </a:lnTo>
                  <a:lnTo>
                    <a:pt x="24384000" y="1524000"/>
                  </a:lnTo>
                  <a:lnTo>
                    <a:pt x="0" y="1524000"/>
                  </a:lnTo>
                  <a:lnTo>
                    <a:pt x="0" y="0"/>
                  </a:lnTo>
                  <a:close/>
                </a:path>
              </a:pathLst>
            </a:custGeom>
            <a:blipFill>
              <a:blip r:embed="rId2"/>
              <a:stretch>
                <a:fillRect l="-10057" r="-55449"/>
              </a:stretch>
            </a:blipFill>
          </p:spPr>
        </p:sp>
      </p:grpSp>
      <p:sp>
        <p:nvSpPr>
          <p:cNvPr id="1048630" name="TextBox 8">
            <a:extLst>
              <a:ext uri="{FF2B5EF4-FFF2-40B4-BE49-F238E27FC236}">
                <a16:creationId xmlns:a16="http://schemas.microsoft.com/office/drawing/2014/main" id="{53DAD478-F65E-AD50-DE4F-57B4A570965F}"/>
              </a:ext>
            </a:extLst>
          </p:cNvPr>
          <p:cNvSpPr txBox="1"/>
          <p:nvPr/>
        </p:nvSpPr>
        <p:spPr>
          <a:xfrm>
            <a:off x="1114107" y="34422"/>
            <a:ext cx="10317479" cy="615553"/>
          </a:xfrm>
          <a:prstGeom prst="rect">
            <a:avLst/>
          </a:prstGeom>
        </p:spPr>
        <p:txBody>
          <a:bodyPr lIns="0" tIns="0" rIns="0" bIns="0" rtlCol="0" anchor="t">
            <a:spAutoFit/>
          </a:bodyPr>
          <a:lstStyle/>
          <a:p>
            <a:pPr algn="ctr">
              <a:lnSpc>
                <a:spcPts val="2880"/>
              </a:lnSpc>
            </a:pPr>
            <a:r>
              <a:rPr lang="en-US" sz="2400" b="1">
                <a:solidFill>
                  <a:srgbClr val="FFFFFF"/>
                </a:solidFill>
                <a:latin typeface="Times New Roman Bold"/>
                <a:ea typeface="Times New Roman Bold"/>
                <a:cs typeface="Times New Roman Bold"/>
                <a:sym typeface="Times New Roman Bold"/>
              </a:rPr>
              <a:t>PRATHYUSHA ENGINEERING COLLEGE</a:t>
            </a:r>
          </a:p>
          <a:p>
            <a:pPr algn="ctr">
              <a:lnSpc>
                <a:spcPts val="1919"/>
              </a:lnSpc>
            </a:pPr>
            <a:r>
              <a:rPr lang="en-US" sz="1600" b="1">
                <a:solidFill>
                  <a:srgbClr val="FFFFFF"/>
                </a:solidFill>
                <a:latin typeface="Times New Roman Bold"/>
                <a:ea typeface="Times New Roman Bold"/>
                <a:cs typeface="Times New Roman Bold"/>
                <a:sym typeface="Times New Roman Bold"/>
              </a:rPr>
              <a:t>(An AUTONOMOUS INSTITUTION)</a:t>
            </a:r>
          </a:p>
        </p:txBody>
      </p:sp>
      <p:grpSp>
        <p:nvGrpSpPr>
          <p:cNvPr id="45" name="Group 9">
            <a:extLst>
              <a:ext uri="{FF2B5EF4-FFF2-40B4-BE49-F238E27FC236}">
                <a16:creationId xmlns:a16="http://schemas.microsoft.com/office/drawing/2014/main" id="{0A4B25E1-3D00-6EB7-8233-E09BC8FEE027}"/>
              </a:ext>
            </a:extLst>
          </p:cNvPr>
          <p:cNvGrpSpPr>
            <a:grpSpLocks noChangeAspect="1"/>
          </p:cNvGrpSpPr>
          <p:nvPr/>
        </p:nvGrpSpPr>
        <p:grpSpPr>
          <a:xfrm>
            <a:off x="761999" y="6312935"/>
            <a:ext cx="11430001" cy="522073"/>
            <a:chOff x="0" y="0"/>
            <a:chExt cx="22860002" cy="1044146"/>
          </a:xfrm>
        </p:grpSpPr>
        <p:sp>
          <p:nvSpPr>
            <p:cNvPr id="1048631" name="Freeform 10" descr="ppt-2.jpg">
              <a:extLst>
                <a:ext uri="{FF2B5EF4-FFF2-40B4-BE49-F238E27FC236}">
                  <a16:creationId xmlns:a16="http://schemas.microsoft.com/office/drawing/2014/main" id="{1E7B2460-D3DB-159D-2D96-094F55140456}"/>
                </a:ext>
              </a:extLst>
            </p:cNvPr>
            <p:cNvSpPr/>
            <p:nvPr/>
          </p:nvSpPr>
          <p:spPr>
            <a:xfrm>
              <a:off x="0" y="0"/>
              <a:ext cx="22860000" cy="1044194"/>
            </a:xfrm>
            <a:custGeom>
              <a:avLst/>
              <a:gdLst/>
              <a:ahLst/>
              <a:cxnLst/>
              <a:rect l="l" t="t" r="r" b="b"/>
              <a:pathLst>
                <a:path w="22860000" h="1044194">
                  <a:moveTo>
                    <a:pt x="0" y="0"/>
                  </a:moveTo>
                  <a:lnTo>
                    <a:pt x="22860000" y="0"/>
                  </a:lnTo>
                  <a:lnTo>
                    <a:pt x="22860000" y="1044194"/>
                  </a:lnTo>
                  <a:lnTo>
                    <a:pt x="0" y="1044194"/>
                  </a:lnTo>
                  <a:lnTo>
                    <a:pt x="0" y="0"/>
                  </a:lnTo>
                  <a:close/>
                </a:path>
              </a:pathLst>
            </a:custGeom>
            <a:blipFill>
              <a:blip r:embed="rId2"/>
              <a:stretch>
                <a:fillRect r="-9901" b="4"/>
              </a:stretch>
            </a:blipFill>
          </p:spPr>
        </p:sp>
      </p:grpSp>
      <p:sp>
        <p:nvSpPr>
          <p:cNvPr id="1048632" name="TextBox 11">
            <a:extLst>
              <a:ext uri="{FF2B5EF4-FFF2-40B4-BE49-F238E27FC236}">
                <a16:creationId xmlns:a16="http://schemas.microsoft.com/office/drawing/2014/main" id="{7B3D095A-198E-0EA8-EA95-A10556243CB8}"/>
              </a:ext>
            </a:extLst>
          </p:cNvPr>
          <p:cNvSpPr txBox="1"/>
          <p:nvPr/>
        </p:nvSpPr>
        <p:spPr>
          <a:xfrm>
            <a:off x="137160" y="6259830"/>
            <a:ext cx="778827" cy="348942"/>
          </a:xfrm>
          <a:prstGeom prst="rect">
            <a:avLst/>
          </a:prstGeom>
        </p:spPr>
        <p:txBody>
          <a:bodyPr lIns="0" tIns="0" rIns="0" bIns="0" rtlCol="0" anchor="t">
            <a:spAutoFit/>
          </a:bodyPr>
          <a:lstStyle/>
          <a:p>
            <a:pPr algn="ctr">
              <a:lnSpc>
                <a:spcPts val="2880"/>
              </a:lnSpc>
            </a:pPr>
            <a:r>
              <a:rPr lang="en-US" sz="2400" b="1">
                <a:solidFill>
                  <a:srgbClr val="960000"/>
                </a:solidFill>
                <a:latin typeface="Arial"/>
                <a:ea typeface="Arial"/>
                <a:cs typeface="Arial"/>
                <a:sym typeface="Arial"/>
              </a:rPr>
              <a:t>ECE</a:t>
            </a:r>
          </a:p>
        </p:txBody>
      </p:sp>
      <p:sp>
        <p:nvSpPr>
          <p:cNvPr id="1048634" name="TextBox 13">
            <a:extLst>
              <a:ext uri="{FF2B5EF4-FFF2-40B4-BE49-F238E27FC236}">
                <a16:creationId xmlns:a16="http://schemas.microsoft.com/office/drawing/2014/main" id="{AB62CCFE-D0A3-3E76-B987-076AA876C9B8}"/>
              </a:ext>
            </a:extLst>
          </p:cNvPr>
          <p:cNvSpPr txBox="1"/>
          <p:nvPr/>
        </p:nvSpPr>
        <p:spPr>
          <a:xfrm>
            <a:off x="8778240" y="6339840"/>
            <a:ext cx="2804160" cy="264175"/>
          </a:xfrm>
          <a:prstGeom prst="rect">
            <a:avLst/>
          </a:prstGeom>
        </p:spPr>
        <p:txBody>
          <a:bodyPr lIns="0" tIns="0" rIns="0" bIns="0" rtlCol="0" anchor="t">
            <a:spAutoFit/>
          </a:bodyPr>
          <a:lstStyle/>
          <a:p>
            <a:pPr algn="r">
              <a:lnSpc>
                <a:spcPts val="2160"/>
              </a:lnSpc>
            </a:pPr>
            <a:r>
              <a:rPr lang="en-US">
                <a:solidFill>
                  <a:srgbClr val="898989"/>
                </a:solidFill>
                <a:latin typeface="Calibri (MS)"/>
                <a:ea typeface="Calibri (MS)"/>
                <a:cs typeface="Calibri (MS)"/>
                <a:sym typeface="Calibri (MS)"/>
              </a:rPr>
              <a:t>2</a:t>
            </a:r>
          </a:p>
        </p:txBody>
      </p:sp>
      <p:pic>
        <p:nvPicPr>
          <p:cNvPr id="2097158" name="Picture 13">
            <a:extLst>
              <a:ext uri="{FF2B5EF4-FFF2-40B4-BE49-F238E27FC236}">
                <a16:creationId xmlns:a16="http://schemas.microsoft.com/office/drawing/2014/main" id="{C460F725-40AB-0177-109E-09A573C288CF}"/>
              </a:ext>
            </a:extLst>
          </p:cNvPr>
          <p:cNvPicPr>
            <a:picLocks noChangeAspect="1"/>
          </p:cNvPicPr>
          <p:nvPr/>
        </p:nvPicPr>
        <p:blipFill>
          <a:blip r:embed="rId3"/>
          <a:srcRect t="1306"/>
          <a:stretch>
            <a:fillRect/>
          </a:stretch>
        </p:blipFill>
        <p:spPr>
          <a:xfrm>
            <a:off x="137160" y="22968"/>
            <a:ext cx="1026477" cy="864845"/>
          </a:xfrm>
          <a:prstGeom prst="rect">
            <a:avLst/>
          </a:prstGeom>
        </p:spPr>
      </p:pic>
      <p:sp>
        <p:nvSpPr>
          <p:cNvPr id="1048635" name="TextBox 1">
            <a:extLst>
              <a:ext uri="{FF2B5EF4-FFF2-40B4-BE49-F238E27FC236}">
                <a16:creationId xmlns:a16="http://schemas.microsoft.com/office/drawing/2014/main" id="{36D8755E-9446-86F8-DC73-F629742B36B3}"/>
              </a:ext>
            </a:extLst>
          </p:cNvPr>
          <p:cNvSpPr txBox="1"/>
          <p:nvPr/>
        </p:nvSpPr>
        <p:spPr>
          <a:xfrm>
            <a:off x="2782789" y="762000"/>
            <a:ext cx="8165006" cy="718466"/>
          </a:xfrm>
          <a:prstGeom prst="rect">
            <a:avLst/>
          </a:prstGeom>
          <a:noFill/>
        </p:spPr>
        <p:txBody>
          <a:bodyPr wrap="square" rtlCol="0">
            <a:spAutoFit/>
          </a:bodyPr>
          <a:lstStyle/>
          <a:p>
            <a:pPr>
              <a:lnSpc>
                <a:spcPct val="200000"/>
              </a:lnSpc>
            </a:pPr>
            <a:r>
              <a:rPr lang="en-IN" sz="2400" b="1" u="sng" dirty="0">
                <a:latin typeface="Times New Roman" panose="02020603050405020304" pitchFamily="18" charset="0"/>
                <a:cs typeface="Times New Roman" panose="02020603050405020304" pitchFamily="18" charset="0"/>
              </a:rPr>
              <a:t>EXPERIMENTAL RESULTS </a:t>
            </a:r>
            <a:r>
              <a:rPr lang="en-IN" sz="2400" b="1" dirty="0">
                <a:latin typeface="Times New Roman" panose="02020603050405020304" pitchFamily="18" charset="0"/>
                <a:cs typeface="Times New Roman" panose="02020603050405020304" pitchFamily="18" charset="0"/>
              </a:rPr>
              <a:t>– (Random Forest) </a:t>
            </a:r>
          </a:p>
        </p:txBody>
      </p:sp>
      <p:sp>
        <p:nvSpPr>
          <p:cNvPr id="1048737" name="TextBox 12">
            <a:extLst>
              <a:ext uri="{FF2B5EF4-FFF2-40B4-BE49-F238E27FC236}">
                <a16:creationId xmlns:a16="http://schemas.microsoft.com/office/drawing/2014/main" id="{0F9A7EBC-8112-76F6-026E-264829D34E66}"/>
              </a:ext>
            </a:extLst>
          </p:cNvPr>
          <p:cNvSpPr txBox="1"/>
          <p:nvPr/>
        </p:nvSpPr>
        <p:spPr>
          <a:xfrm>
            <a:off x="1737360" y="6350615"/>
            <a:ext cx="10255865" cy="3577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ts val="2880"/>
              </a:lnSpc>
            </a:pPr>
            <a:r>
              <a:rPr lang="en-US" sz="2400" b="1" spc="-37">
                <a:solidFill>
                  <a:srgbClr val="FFFFFF"/>
                </a:solidFill>
                <a:latin typeface="Trirong Bold"/>
                <a:ea typeface="Trirong Bold"/>
                <a:cs typeface="Trirong Bold"/>
                <a:sym typeface="Trirong Bold"/>
              </a:rPr>
              <a:t>Department of Electronics and communication Engineering</a:t>
            </a:r>
            <a:endParaRPr lang="zh-CN" altLang="en-US" sz="1200"/>
          </a:p>
        </p:txBody>
      </p:sp>
      <p:pic>
        <p:nvPicPr>
          <p:cNvPr id="3" name="object 5">
            <a:extLst>
              <a:ext uri="{FF2B5EF4-FFF2-40B4-BE49-F238E27FC236}">
                <a16:creationId xmlns:a16="http://schemas.microsoft.com/office/drawing/2014/main" id="{19C85808-7F7F-DB76-6112-4E8981691F60}"/>
              </a:ext>
            </a:extLst>
          </p:cNvPr>
          <p:cNvPicPr/>
          <p:nvPr/>
        </p:nvPicPr>
        <p:blipFill>
          <a:blip r:embed="rId4" cstate="print"/>
          <a:stretch>
            <a:fillRect/>
          </a:stretch>
        </p:blipFill>
        <p:spPr>
          <a:xfrm>
            <a:off x="915987" y="1760144"/>
            <a:ext cx="4068968" cy="4072163"/>
          </a:xfrm>
          <a:prstGeom prst="rect">
            <a:avLst/>
          </a:prstGeom>
        </p:spPr>
      </p:pic>
      <p:pic>
        <p:nvPicPr>
          <p:cNvPr id="4" name="object 6">
            <a:extLst>
              <a:ext uri="{FF2B5EF4-FFF2-40B4-BE49-F238E27FC236}">
                <a16:creationId xmlns:a16="http://schemas.microsoft.com/office/drawing/2014/main" id="{5C703E17-C819-ED1A-6A44-759E748EA4F9}"/>
              </a:ext>
            </a:extLst>
          </p:cNvPr>
          <p:cNvPicPr/>
          <p:nvPr/>
        </p:nvPicPr>
        <p:blipFill>
          <a:blip r:embed="rId5" cstate="print"/>
          <a:stretch>
            <a:fillRect/>
          </a:stretch>
        </p:blipFill>
        <p:spPr>
          <a:xfrm>
            <a:off x="5451146" y="1760144"/>
            <a:ext cx="5305344" cy="3834325"/>
          </a:xfrm>
          <a:prstGeom prst="rect">
            <a:avLst/>
          </a:prstGeom>
        </p:spPr>
      </p:pic>
    </p:spTree>
    <p:extLst>
      <p:ext uri="{BB962C8B-B14F-4D97-AF65-F5344CB8AC3E}">
        <p14:creationId xmlns:p14="http://schemas.microsoft.com/office/powerpoint/2010/main" val="1793456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671DF-19D2-42F1-17D8-EEFAD1E1EBA6}"/>
            </a:ext>
          </a:extLst>
        </p:cNvPr>
        <p:cNvGrpSpPr/>
        <p:nvPr/>
      </p:nvGrpSpPr>
      <p:grpSpPr>
        <a:xfrm>
          <a:off x="0" y="0"/>
          <a:ext cx="0" cy="0"/>
          <a:chOff x="0" y="0"/>
          <a:chExt cx="0" cy="0"/>
        </a:xfrm>
      </p:grpSpPr>
      <p:grpSp>
        <p:nvGrpSpPr>
          <p:cNvPr id="44" name="Group 4">
            <a:extLst>
              <a:ext uri="{FF2B5EF4-FFF2-40B4-BE49-F238E27FC236}">
                <a16:creationId xmlns:a16="http://schemas.microsoft.com/office/drawing/2014/main" id="{ED0B8078-BB20-C3AF-DDEF-ED12941418FE}"/>
              </a:ext>
            </a:extLst>
          </p:cNvPr>
          <p:cNvGrpSpPr>
            <a:grpSpLocks noChangeAspect="1"/>
          </p:cNvGrpSpPr>
          <p:nvPr/>
        </p:nvGrpSpPr>
        <p:grpSpPr>
          <a:xfrm>
            <a:off x="1114107" y="1"/>
            <a:ext cx="11077893" cy="761999"/>
            <a:chOff x="2228213" y="0"/>
            <a:chExt cx="22155787" cy="1523999"/>
          </a:xfrm>
        </p:grpSpPr>
        <p:sp>
          <p:nvSpPr>
            <p:cNvPr id="1048629" name="Freeform 5" descr="ppt-2.jpg">
              <a:extLst>
                <a:ext uri="{FF2B5EF4-FFF2-40B4-BE49-F238E27FC236}">
                  <a16:creationId xmlns:a16="http://schemas.microsoft.com/office/drawing/2014/main" id="{A905CFF5-298A-F98E-E9AB-2EC51080AA63}"/>
                </a:ext>
              </a:extLst>
            </p:cNvPr>
            <p:cNvSpPr/>
            <p:nvPr/>
          </p:nvSpPr>
          <p:spPr>
            <a:xfrm>
              <a:off x="2228213" y="0"/>
              <a:ext cx="22155787" cy="1523999"/>
            </a:xfrm>
            <a:custGeom>
              <a:avLst/>
              <a:gdLst/>
              <a:ahLst/>
              <a:cxnLst/>
              <a:rect l="l" t="t" r="r" b="b"/>
              <a:pathLst>
                <a:path w="24384000" h="1524000">
                  <a:moveTo>
                    <a:pt x="0" y="0"/>
                  </a:moveTo>
                  <a:lnTo>
                    <a:pt x="24384000" y="0"/>
                  </a:lnTo>
                  <a:lnTo>
                    <a:pt x="24384000" y="1524000"/>
                  </a:lnTo>
                  <a:lnTo>
                    <a:pt x="0" y="1524000"/>
                  </a:lnTo>
                  <a:lnTo>
                    <a:pt x="0" y="0"/>
                  </a:lnTo>
                  <a:close/>
                </a:path>
              </a:pathLst>
            </a:custGeom>
            <a:blipFill>
              <a:blip r:embed="rId2"/>
              <a:stretch>
                <a:fillRect l="-10057" r="-55449"/>
              </a:stretch>
            </a:blipFill>
          </p:spPr>
        </p:sp>
      </p:grpSp>
      <p:sp>
        <p:nvSpPr>
          <p:cNvPr id="1048630" name="TextBox 8">
            <a:extLst>
              <a:ext uri="{FF2B5EF4-FFF2-40B4-BE49-F238E27FC236}">
                <a16:creationId xmlns:a16="http://schemas.microsoft.com/office/drawing/2014/main" id="{F9AA40AA-42A3-28C2-361E-03B599E75F93}"/>
              </a:ext>
            </a:extLst>
          </p:cNvPr>
          <p:cNvSpPr txBox="1"/>
          <p:nvPr/>
        </p:nvSpPr>
        <p:spPr>
          <a:xfrm>
            <a:off x="1114107" y="34422"/>
            <a:ext cx="10317479" cy="615553"/>
          </a:xfrm>
          <a:prstGeom prst="rect">
            <a:avLst/>
          </a:prstGeom>
        </p:spPr>
        <p:txBody>
          <a:bodyPr lIns="0" tIns="0" rIns="0" bIns="0" rtlCol="0" anchor="t">
            <a:spAutoFit/>
          </a:bodyPr>
          <a:lstStyle/>
          <a:p>
            <a:pPr algn="ctr">
              <a:lnSpc>
                <a:spcPts val="2880"/>
              </a:lnSpc>
            </a:pPr>
            <a:r>
              <a:rPr lang="en-US" sz="2400" b="1">
                <a:solidFill>
                  <a:srgbClr val="FFFFFF"/>
                </a:solidFill>
                <a:latin typeface="Times New Roman Bold"/>
                <a:ea typeface="Times New Roman Bold"/>
                <a:cs typeface="Times New Roman Bold"/>
                <a:sym typeface="Times New Roman Bold"/>
              </a:rPr>
              <a:t>PRATHYUSHA ENGINEERING COLLEGE</a:t>
            </a:r>
          </a:p>
          <a:p>
            <a:pPr algn="ctr">
              <a:lnSpc>
                <a:spcPts val="1919"/>
              </a:lnSpc>
            </a:pPr>
            <a:r>
              <a:rPr lang="en-US" sz="1600" b="1">
                <a:solidFill>
                  <a:srgbClr val="FFFFFF"/>
                </a:solidFill>
                <a:latin typeface="Times New Roman Bold"/>
                <a:ea typeface="Times New Roman Bold"/>
                <a:cs typeface="Times New Roman Bold"/>
                <a:sym typeface="Times New Roman Bold"/>
              </a:rPr>
              <a:t>(An AUTONOMOUS INSTITUTION)</a:t>
            </a:r>
          </a:p>
        </p:txBody>
      </p:sp>
      <p:grpSp>
        <p:nvGrpSpPr>
          <p:cNvPr id="45" name="Group 9">
            <a:extLst>
              <a:ext uri="{FF2B5EF4-FFF2-40B4-BE49-F238E27FC236}">
                <a16:creationId xmlns:a16="http://schemas.microsoft.com/office/drawing/2014/main" id="{3B627529-D014-38F1-9979-362F41450C41}"/>
              </a:ext>
            </a:extLst>
          </p:cNvPr>
          <p:cNvGrpSpPr>
            <a:grpSpLocks noChangeAspect="1"/>
          </p:cNvGrpSpPr>
          <p:nvPr/>
        </p:nvGrpSpPr>
        <p:grpSpPr>
          <a:xfrm>
            <a:off x="761999" y="6312935"/>
            <a:ext cx="11430001" cy="522073"/>
            <a:chOff x="0" y="0"/>
            <a:chExt cx="22860002" cy="1044146"/>
          </a:xfrm>
        </p:grpSpPr>
        <p:sp>
          <p:nvSpPr>
            <p:cNvPr id="1048631" name="Freeform 10" descr="ppt-2.jpg">
              <a:extLst>
                <a:ext uri="{FF2B5EF4-FFF2-40B4-BE49-F238E27FC236}">
                  <a16:creationId xmlns:a16="http://schemas.microsoft.com/office/drawing/2014/main" id="{5D68DCF3-5A72-C35E-AC99-9E0BAF037321}"/>
                </a:ext>
              </a:extLst>
            </p:cNvPr>
            <p:cNvSpPr/>
            <p:nvPr/>
          </p:nvSpPr>
          <p:spPr>
            <a:xfrm>
              <a:off x="0" y="0"/>
              <a:ext cx="22860000" cy="1044194"/>
            </a:xfrm>
            <a:custGeom>
              <a:avLst/>
              <a:gdLst/>
              <a:ahLst/>
              <a:cxnLst/>
              <a:rect l="l" t="t" r="r" b="b"/>
              <a:pathLst>
                <a:path w="22860000" h="1044194">
                  <a:moveTo>
                    <a:pt x="0" y="0"/>
                  </a:moveTo>
                  <a:lnTo>
                    <a:pt x="22860000" y="0"/>
                  </a:lnTo>
                  <a:lnTo>
                    <a:pt x="22860000" y="1044194"/>
                  </a:lnTo>
                  <a:lnTo>
                    <a:pt x="0" y="1044194"/>
                  </a:lnTo>
                  <a:lnTo>
                    <a:pt x="0" y="0"/>
                  </a:lnTo>
                  <a:close/>
                </a:path>
              </a:pathLst>
            </a:custGeom>
            <a:blipFill>
              <a:blip r:embed="rId2"/>
              <a:stretch>
                <a:fillRect r="-9901" b="4"/>
              </a:stretch>
            </a:blipFill>
          </p:spPr>
        </p:sp>
      </p:grpSp>
      <p:sp>
        <p:nvSpPr>
          <p:cNvPr id="1048632" name="TextBox 11">
            <a:extLst>
              <a:ext uri="{FF2B5EF4-FFF2-40B4-BE49-F238E27FC236}">
                <a16:creationId xmlns:a16="http://schemas.microsoft.com/office/drawing/2014/main" id="{93A15516-3009-077F-39B0-42153E4F70B5}"/>
              </a:ext>
            </a:extLst>
          </p:cNvPr>
          <p:cNvSpPr txBox="1"/>
          <p:nvPr/>
        </p:nvSpPr>
        <p:spPr>
          <a:xfrm>
            <a:off x="137160" y="6259830"/>
            <a:ext cx="778827" cy="348942"/>
          </a:xfrm>
          <a:prstGeom prst="rect">
            <a:avLst/>
          </a:prstGeom>
        </p:spPr>
        <p:txBody>
          <a:bodyPr lIns="0" tIns="0" rIns="0" bIns="0" rtlCol="0" anchor="t">
            <a:spAutoFit/>
          </a:bodyPr>
          <a:lstStyle/>
          <a:p>
            <a:pPr algn="ctr">
              <a:lnSpc>
                <a:spcPts val="2880"/>
              </a:lnSpc>
            </a:pPr>
            <a:r>
              <a:rPr lang="en-US" sz="2400" b="1" dirty="0">
                <a:solidFill>
                  <a:srgbClr val="960000"/>
                </a:solidFill>
                <a:latin typeface="Arial"/>
                <a:ea typeface="Arial"/>
                <a:cs typeface="Arial"/>
                <a:sym typeface="Arial"/>
              </a:rPr>
              <a:t>ECE</a:t>
            </a:r>
          </a:p>
        </p:txBody>
      </p:sp>
      <p:sp>
        <p:nvSpPr>
          <p:cNvPr id="1048634" name="TextBox 13">
            <a:extLst>
              <a:ext uri="{FF2B5EF4-FFF2-40B4-BE49-F238E27FC236}">
                <a16:creationId xmlns:a16="http://schemas.microsoft.com/office/drawing/2014/main" id="{D6FB960B-A805-3C2C-F1C8-E4FB0D377034}"/>
              </a:ext>
            </a:extLst>
          </p:cNvPr>
          <p:cNvSpPr txBox="1"/>
          <p:nvPr/>
        </p:nvSpPr>
        <p:spPr>
          <a:xfrm>
            <a:off x="8778240" y="6339840"/>
            <a:ext cx="2804160" cy="264175"/>
          </a:xfrm>
          <a:prstGeom prst="rect">
            <a:avLst/>
          </a:prstGeom>
        </p:spPr>
        <p:txBody>
          <a:bodyPr lIns="0" tIns="0" rIns="0" bIns="0" rtlCol="0" anchor="t">
            <a:spAutoFit/>
          </a:bodyPr>
          <a:lstStyle/>
          <a:p>
            <a:pPr algn="r">
              <a:lnSpc>
                <a:spcPts val="2160"/>
              </a:lnSpc>
            </a:pPr>
            <a:r>
              <a:rPr lang="en-US">
                <a:solidFill>
                  <a:srgbClr val="898989"/>
                </a:solidFill>
                <a:latin typeface="Calibri (MS)"/>
                <a:ea typeface="Calibri (MS)"/>
                <a:cs typeface="Calibri (MS)"/>
                <a:sym typeface="Calibri (MS)"/>
              </a:rPr>
              <a:t>2</a:t>
            </a:r>
          </a:p>
        </p:txBody>
      </p:sp>
      <p:pic>
        <p:nvPicPr>
          <p:cNvPr id="2097158" name="Picture 13">
            <a:extLst>
              <a:ext uri="{FF2B5EF4-FFF2-40B4-BE49-F238E27FC236}">
                <a16:creationId xmlns:a16="http://schemas.microsoft.com/office/drawing/2014/main" id="{BBDB7CFE-0395-A070-90A4-2A4EE9BA2545}"/>
              </a:ext>
            </a:extLst>
          </p:cNvPr>
          <p:cNvPicPr>
            <a:picLocks noChangeAspect="1"/>
          </p:cNvPicPr>
          <p:nvPr/>
        </p:nvPicPr>
        <p:blipFill>
          <a:blip r:embed="rId3"/>
          <a:srcRect t="1306"/>
          <a:stretch>
            <a:fillRect/>
          </a:stretch>
        </p:blipFill>
        <p:spPr>
          <a:xfrm>
            <a:off x="137160" y="22968"/>
            <a:ext cx="1026477" cy="864845"/>
          </a:xfrm>
          <a:prstGeom prst="rect">
            <a:avLst/>
          </a:prstGeom>
        </p:spPr>
      </p:pic>
      <p:sp>
        <p:nvSpPr>
          <p:cNvPr id="1048635" name="TextBox 1">
            <a:extLst>
              <a:ext uri="{FF2B5EF4-FFF2-40B4-BE49-F238E27FC236}">
                <a16:creationId xmlns:a16="http://schemas.microsoft.com/office/drawing/2014/main" id="{5E9AEBB3-34BC-E4E4-3CD3-121FF6AA4FF0}"/>
              </a:ext>
            </a:extLst>
          </p:cNvPr>
          <p:cNvSpPr txBox="1"/>
          <p:nvPr/>
        </p:nvSpPr>
        <p:spPr>
          <a:xfrm>
            <a:off x="2540000" y="868909"/>
            <a:ext cx="7112000" cy="461665"/>
          </a:xfrm>
          <a:prstGeom prst="rect">
            <a:avLst/>
          </a:prstGeom>
          <a:noFill/>
        </p:spPr>
        <p:txBody>
          <a:bodyPr wrap="square" rtlCol="0">
            <a:spAutoFit/>
          </a:bodyPr>
          <a:lstStyle/>
          <a:p>
            <a:pPr algn="ctr"/>
            <a:r>
              <a:rPr lang="en-IN" sz="2400" b="1" u="sng" dirty="0">
                <a:latin typeface="Times New Roman" panose="02020603050405020304" pitchFamily="18" charset="0"/>
                <a:cs typeface="Times New Roman" panose="02020603050405020304" pitchFamily="18" charset="0"/>
              </a:rPr>
              <a:t>Experimental Results </a:t>
            </a:r>
            <a:r>
              <a:rPr lang="en-IN" sz="2400" b="1" dirty="0">
                <a:latin typeface="Times New Roman" panose="02020603050405020304" pitchFamily="18" charset="0"/>
                <a:cs typeface="Times New Roman" panose="02020603050405020304" pitchFamily="18" charset="0"/>
              </a:rPr>
              <a:t>(Support Vector Machine)</a:t>
            </a:r>
          </a:p>
        </p:txBody>
      </p:sp>
      <p:sp>
        <p:nvSpPr>
          <p:cNvPr id="1048737" name="TextBox 12">
            <a:extLst>
              <a:ext uri="{FF2B5EF4-FFF2-40B4-BE49-F238E27FC236}">
                <a16:creationId xmlns:a16="http://schemas.microsoft.com/office/drawing/2014/main" id="{779F5547-2776-CD99-1B43-4578185745AE}"/>
              </a:ext>
            </a:extLst>
          </p:cNvPr>
          <p:cNvSpPr txBox="1"/>
          <p:nvPr/>
        </p:nvSpPr>
        <p:spPr>
          <a:xfrm>
            <a:off x="1737360" y="6350615"/>
            <a:ext cx="10255865" cy="3577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ts val="2880"/>
              </a:lnSpc>
            </a:pPr>
            <a:r>
              <a:rPr lang="en-US" sz="2400" b="1" spc="-37">
                <a:solidFill>
                  <a:srgbClr val="FFFFFF"/>
                </a:solidFill>
                <a:latin typeface="Trirong Bold"/>
                <a:ea typeface="Trirong Bold"/>
                <a:cs typeface="Trirong Bold"/>
                <a:sym typeface="Trirong Bold"/>
              </a:rPr>
              <a:t>Department of Electronics and communication Engineering</a:t>
            </a:r>
            <a:endParaRPr lang="zh-CN" altLang="en-US" sz="1200"/>
          </a:p>
        </p:txBody>
      </p:sp>
      <p:pic>
        <p:nvPicPr>
          <p:cNvPr id="3" name="Picture 2">
            <a:extLst>
              <a:ext uri="{FF2B5EF4-FFF2-40B4-BE49-F238E27FC236}">
                <a16:creationId xmlns:a16="http://schemas.microsoft.com/office/drawing/2014/main" id="{CFD6CA08-2AB5-CAC0-5E4C-4019647242C6}"/>
              </a:ext>
            </a:extLst>
          </p:cNvPr>
          <p:cNvPicPr>
            <a:picLocks noChangeAspect="1"/>
          </p:cNvPicPr>
          <p:nvPr/>
        </p:nvPicPr>
        <p:blipFill>
          <a:blip r:embed="rId4"/>
          <a:stretch>
            <a:fillRect/>
          </a:stretch>
        </p:blipFill>
        <p:spPr>
          <a:xfrm>
            <a:off x="137160" y="1659334"/>
            <a:ext cx="5044440" cy="4085027"/>
          </a:xfrm>
          <a:prstGeom prst="rect">
            <a:avLst/>
          </a:prstGeom>
        </p:spPr>
      </p:pic>
      <p:pic>
        <p:nvPicPr>
          <p:cNvPr id="5" name="Picture 4">
            <a:extLst>
              <a:ext uri="{FF2B5EF4-FFF2-40B4-BE49-F238E27FC236}">
                <a16:creationId xmlns:a16="http://schemas.microsoft.com/office/drawing/2014/main" id="{FC313890-1AAE-59B7-AE30-720D9F4F4374}"/>
              </a:ext>
            </a:extLst>
          </p:cNvPr>
          <p:cNvPicPr>
            <a:picLocks noChangeAspect="1"/>
          </p:cNvPicPr>
          <p:nvPr/>
        </p:nvPicPr>
        <p:blipFill>
          <a:blip r:embed="rId5"/>
          <a:stretch>
            <a:fillRect/>
          </a:stretch>
        </p:blipFill>
        <p:spPr>
          <a:xfrm>
            <a:off x="5691429" y="1669166"/>
            <a:ext cx="5890971" cy="4322404"/>
          </a:xfrm>
          <a:prstGeom prst="rect">
            <a:avLst/>
          </a:prstGeom>
        </p:spPr>
      </p:pic>
    </p:spTree>
    <p:extLst>
      <p:ext uri="{BB962C8B-B14F-4D97-AF65-F5344CB8AC3E}">
        <p14:creationId xmlns:p14="http://schemas.microsoft.com/office/powerpoint/2010/main" val="3217404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BE3B8-131C-3867-35BF-B91495109AA4}"/>
            </a:ext>
          </a:extLst>
        </p:cNvPr>
        <p:cNvGrpSpPr/>
        <p:nvPr/>
      </p:nvGrpSpPr>
      <p:grpSpPr>
        <a:xfrm>
          <a:off x="0" y="0"/>
          <a:ext cx="0" cy="0"/>
          <a:chOff x="0" y="0"/>
          <a:chExt cx="0" cy="0"/>
        </a:xfrm>
      </p:grpSpPr>
      <p:grpSp>
        <p:nvGrpSpPr>
          <p:cNvPr id="44" name="Group 4">
            <a:extLst>
              <a:ext uri="{FF2B5EF4-FFF2-40B4-BE49-F238E27FC236}">
                <a16:creationId xmlns:a16="http://schemas.microsoft.com/office/drawing/2014/main" id="{689996C9-9D2E-322F-D460-73931B7976D7}"/>
              </a:ext>
            </a:extLst>
          </p:cNvPr>
          <p:cNvGrpSpPr>
            <a:grpSpLocks noChangeAspect="1"/>
          </p:cNvGrpSpPr>
          <p:nvPr/>
        </p:nvGrpSpPr>
        <p:grpSpPr>
          <a:xfrm>
            <a:off x="1114107" y="1"/>
            <a:ext cx="11077893" cy="761999"/>
            <a:chOff x="2228213" y="0"/>
            <a:chExt cx="22155787" cy="1523999"/>
          </a:xfrm>
        </p:grpSpPr>
        <p:sp>
          <p:nvSpPr>
            <p:cNvPr id="1048629" name="Freeform 5" descr="ppt-2.jpg">
              <a:extLst>
                <a:ext uri="{FF2B5EF4-FFF2-40B4-BE49-F238E27FC236}">
                  <a16:creationId xmlns:a16="http://schemas.microsoft.com/office/drawing/2014/main" id="{EF10D66D-EC9C-A494-A7C9-A4C5F1770640}"/>
                </a:ext>
              </a:extLst>
            </p:cNvPr>
            <p:cNvSpPr/>
            <p:nvPr/>
          </p:nvSpPr>
          <p:spPr>
            <a:xfrm>
              <a:off x="2228213" y="0"/>
              <a:ext cx="22155787" cy="1523999"/>
            </a:xfrm>
            <a:custGeom>
              <a:avLst/>
              <a:gdLst/>
              <a:ahLst/>
              <a:cxnLst/>
              <a:rect l="l" t="t" r="r" b="b"/>
              <a:pathLst>
                <a:path w="24384000" h="1524000">
                  <a:moveTo>
                    <a:pt x="0" y="0"/>
                  </a:moveTo>
                  <a:lnTo>
                    <a:pt x="24384000" y="0"/>
                  </a:lnTo>
                  <a:lnTo>
                    <a:pt x="24384000" y="1524000"/>
                  </a:lnTo>
                  <a:lnTo>
                    <a:pt x="0" y="1524000"/>
                  </a:lnTo>
                  <a:lnTo>
                    <a:pt x="0" y="0"/>
                  </a:lnTo>
                  <a:close/>
                </a:path>
              </a:pathLst>
            </a:custGeom>
            <a:blipFill>
              <a:blip r:embed="rId2"/>
              <a:stretch>
                <a:fillRect l="-10057" r="-55449"/>
              </a:stretch>
            </a:blipFill>
          </p:spPr>
        </p:sp>
      </p:grpSp>
      <p:sp>
        <p:nvSpPr>
          <p:cNvPr id="1048630" name="TextBox 8">
            <a:extLst>
              <a:ext uri="{FF2B5EF4-FFF2-40B4-BE49-F238E27FC236}">
                <a16:creationId xmlns:a16="http://schemas.microsoft.com/office/drawing/2014/main" id="{559330FC-7E96-53B0-EC16-3C5345E8B065}"/>
              </a:ext>
            </a:extLst>
          </p:cNvPr>
          <p:cNvSpPr txBox="1"/>
          <p:nvPr/>
        </p:nvSpPr>
        <p:spPr>
          <a:xfrm>
            <a:off x="1114107" y="34422"/>
            <a:ext cx="10317479" cy="615553"/>
          </a:xfrm>
          <a:prstGeom prst="rect">
            <a:avLst/>
          </a:prstGeom>
        </p:spPr>
        <p:txBody>
          <a:bodyPr lIns="0" tIns="0" rIns="0" bIns="0" rtlCol="0" anchor="t">
            <a:spAutoFit/>
          </a:bodyPr>
          <a:lstStyle/>
          <a:p>
            <a:pPr algn="ctr">
              <a:lnSpc>
                <a:spcPts val="2880"/>
              </a:lnSpc>
            </a:pPr>
            <a:r>
              <a:rPr lang="en-US" sz="2400" b="1">
                <a:solidFill>
                  <a:srgbClr val="FFFFFF"/>
                </a:solidFill>
                <a:latin typeface="Times New Roman Bold"/>
                <a:ea typeface="Times New Roman Bold"/>
                <a:cs typeface="Times New Roman Bold"/>
                <a:sym typeface="Times New Roman Bold"/>
              </a:rPr>
              <a:t>PRATHYUSHA ENGINEERING COLLEGE</a:t>
            </a:r>
          </a:p>
          <a:p>
            <a:pPr algn="ctr">
              <a:lnSpc>
                <a:spcPts val="1919"/>
              </a:lnSpc>
            </a:pPr>
            <a:r>
              <a:rPr lang="en-US" sz="1600" b="1">
                <a:solidFill>
                  <a:srgbClr val="FFFFFF"/>
                </a:solidFill>
                <a:latin typeface="Times New Roman Bold"/>
                <a:ea typeface="Times New Roman Bold"/>
                <a:cs typeface="Times New Roman Bold"/>
                <a:sym typeface="Times New Roman Bold"/>
              </a:rPr>
              <a:t>(An AUTONOMOUS INSTITUTION)</a:t>
            </a:r>
          </a:p>
        </p:txBody>
      </p:sp>
      <p:grpSp>
        <p:nvGrpSpPr>
          <p:cNvPr id="45" name="Group 9">
            <a:extLst>
              <a:ext uri="{FF2B5EF4-FFF2-40B4-BE49-F238E27FC236}">
                <a16:creationId xmlns:a16="http://schemas.microsoft.com/office/drawing/2014/main" id="{BA883177-4DC7-0922-BCEE-9F228128A472}"/>
              </a:ext>
            </a:extLst>
          </p:cNvPr>
          <p:cNvGrpSpPr>
            <a:grpSpLocks noChangeAspect="1"/>
          </p:cNvGrpSpPr>
          <p:nvPr/>
        </p:nvGrpSpPr>
        <p:grpSpPr>
          <a:xfrm>
            <a:off x="761999" y="6312935"/>
            <a:ext cx="11430001" cy="522073"/>
            <a:chOff x="0" y="0"/>
            <a:chExt cx="22860002" cy="1044146"/>
          </a:xfrm>
        </p:grpSpPr>
        <p:sp>
          <p:nvSpPr>
            <p:cNvPr id="1048631" name="Freeform 10" descr="ppt-2.jpg">
              <a:extLst>
                <a:ext uri="{FF2B5EF4-FFF2-40B4-BE49-F238E27FC236}">
                  <a16:creationId xmlns:a16="http://schemas.microsoft.com/office/drawing/2014/main" id="{D352515D-614D-27C3-FE6C-002EA896BABC}"/>
                </a:ext>
              </a:extLst>
            </p:cNvPr>
            <p:cNvSpPr/>
            <p:nvPr/>
          </p:nvSpPr>
          <p:spPr>
            <a:xfrm>
              <a:off x="0" y="0"/>
              <a:ext cx="22860000" cy="1044194"/>
            </a:xfrm>
            <a:custGeom>
              <a:avLst/>
              <a:gdLst/>
              <a:ahLst/>
              <a:cxnLst/>
              <a:rect l="l" t="t" r="r" b="b"/>
              <a:pathLst>
                <a:path w="22860000" h="1044194">
                  <a:moveTo>
                    <a:pt x="0" y="0"/>
                  </a:moveTo>
                  <a:lnTo>
                    <a:pt x="22860000" y="0"/>
                  </a:lnTo>
                  <a:lnTo>
                    <a:pt x="22860000" y="1044194"/>
                  </a:lnTo>
                  <a:lnTo>
                    <a:pt x="0" y="1044194"/>
                  </a:lnTo>
                  <a:lnTo>
                    <a:pt x="0" y="0"/>
                  </a:lnTo>
                  <a:close/>
                </a:path>
              </a:pathLst>
            </a:custGeom>
            <a:blipFill>
              <a:blip r:embed="rId2"/>
              <a:stretch>
                <a:fillRect r="-9901" b="4"/>
              </a:stretch>
            </a:blipFill>
          </p:spPr>
        </p:sp>
      </p:grpSp>
      <p:sp>
        <p:nvSpPr>
          <p:cNvPr id="1048632" name="TextBox 11">
            <a:extLst>
              <a:ext uri="{FF2B5EF4-FFF2-40B4-BE49-F238E27FC236}">
                <a16:creationId xmlns:a16="http://schemas.microsoft.com/office/drawing/2014/main" id="{5A4B5138-29EA-AD99-394E-4BEED639876B}"/>
              </a:ext>
            </a:extLst>
          </p:cNvPr>
          <p:cNvSpPr txBox="1"/>
          <p:nvPr/>
        </p:nvSpPr>
        <p:spPr>
          <a:xfrm>
            <a:off x="137160" y="6259830"/>
            <a:ext cx="778827" cy="348942"/>
          </a:xfrm>
          <a:prstGeom prst="rect">
            <a:avLst/>
          </a:prstGeom>
        </p:spPr>
        <p:txBody>
          <a:bodyPr lIns="0" tIns="0" rIns="0" bIns="0" rtlCol="0" anchor="t">
            <a:spAutoFit/>
          </a:bodyPr>
          <a:lstStyle/>
          <a:p>
            <a:pPr algn="ctr">
              <a:lnSpc>
                <a:spcPts val="2880"/>
              </a:lnSpc>
            </a:pPr>
            <a:r>
              <a:rPr lang="en-US" sz="2400" b="1">
                <a:solidFill>
                  <a:srgbClr val="960000"/>
                </a:solidFill>
                <a:latin typeface="Arial"/>
                <a:ea typeface="Arial"/>
                <a:cs typeface="Arial"/>
                <a:sym typeface="Arial"/>
              </a:rPr>
              <a:t>ECE</a:t>
            </a:r>
          </a:p>
        </p:txBody>
      </p:sp>
      <p:sp>
        <p:nvSpPr>
          <p:cNvPr id="1048634" name="TextBox 13">
            <a:extLst>
              <a:ext uri="{FF2B5EF4-FFF2-40B4-BE49-F238E27FC236}">
                <a16:creationId xmlns:a16="http://schemas.microsoft.com/office/drawing/2014/main" id="{AD2423B8-517C-5D8B-3355-AC62CFB5AAE8}"/>
              </a:ext>
            </a:extLst>
          </p:cNvPr>
          <p:cNvSpPr txBox="1"/>
          <p:nvPr/>
        </p:nvSpPr>
        <p:spPr>
          <a:xfrm>
            <a:off x="8778240" y="6339840"/>
            <a:ext cx="2804160" cy="264175"/>
          </a:xfrm>
          <a:prstGeom prst="rect">
            <a:avLst/>
          </a:prstGeom>
        </p:spPr>
        <p:txBody>
          <a:bodyPr lIns="0" tIns="0" rIns="0" bIns="0" rtlCol="0" anchor="t">
            <a:spAutoFit/>
          </a:bodyPr>
          <a:lstStyle/>
          <a:p>
            <a:pPr algn="r">
              <a:lnSpc>
                <a:spcPts val="2160"/>
              </a:lnSpc>
            </a:pPr>
            <a:r>
              <a:rPr lang="en-US">
                <a:solidFill>
                  <a:srgbClr val="898989"/>
                </a:solidFill>
                <a:latin typeface="Calibri (MS)"/>
                <a:ea typeface="Calibri (MS)"/>
                <a:cs typeface="Calibri (MS)"/>
                <a:sym typeface="Calibri (MS)"/>
              </a:rPr>
              <a:t>2</a:t>
            </a:r>
          </a:p>
        </p:txBody>
      </p:sp>
      <p:pic>
        <p:nvPicPr>
          <p:cNvPr id="2097158" name="Picture 13">
            <a:extLst>
              <a:ext uri="{FF2B5EF4-FFF2-40B4-BE49-F238E27FC236}">
                <a16:creationId xmlns:a16="http://schemas.microsoft.com/office/drawing/2014/main" id="{E85D13C6-62CC-A8F6-6539-C5DCED2C3D0F}"/>
              </a:ext>
            </a:extLst>
          </p:cNvPr>
          <p:cNvPicPr>
            <a:picLocks noChangeAspect="1"/>
          </p:cNvPicPr>
          <p:nvPr/>
        </p:nvPicPr>
        <p:blipFill>
          <a:blip r:embed="rId3"/>
          <a:srcRect t="1306"/>
          <a:stretch>
            <a:fillRect/>
          </a:stretch>
        </p:blipFill>
        <p:spPr>
          <a:xfrm>
            <a:off x="137160" y="22968"/>
            <a:ext cx="1026477" cy="864845"/>
          </a:xfrm>
          <a:prstGeom prst="rect">
            <a:avLst/>
          </a:prstGeom>
        </p:spPr>
      </p:pic>
      <p:sp>
        <p:nvSpPr>
          <p:cNvPr id="1048635" name="TextBox 1">
            <a:extLst>
              <a:ext uri="{FF2B5EF4-FFF2-40B4-BE49-F238E27FC236}">
                <a16:creationId xmlns:a16="http://schemas.microsoft.com/office/drawing/2014/main" id="{12EEEC51-0952-D459-8CDB-968BD1A8D31D}"/>
              </a:ext>
            </a:extLst>
          </p:cNvPr>
          <p:cNvSpPr txBox="1"/>
          <p:nvPr/>
        </p:nvSpPr>
        <p:spPr>
          <a:xfrm>
            <a:off x="2625704" y="616299"/>
            <a:ext cx="8479176" cy="718466"/>
          </a:xfrm>
          <a:prstGeom prst="rect">
            <a:avLst/>
          </a:prstGeom>
          <a:noFill/>
        </p:spPr>
        <p:txBody>
          <a:bodyPr wrap="square" rtlCol="0">
            <a:spAutoFit/>
          </a:bodyPr>
          <a:lstStyle/>
          <a:p>
            <a:pPr>
              <a:lnSpc>
                <a:spcPct val="200000"/>
              </a:lnSpc>
            </a:pPr>
            <a:r>
              <a:rPr lang="en-IN" sz="2400" b="1" u="sng" dirty="0">
                <a:latin typeface="Times New Roman" panose="02020603050405020304" pitchFamily="18" charset="0"/>
                <a:cs typeface="Times New Roman" panose="02020603050405020304" pitchFamily="18" charset="0"/>
              </a:rPr>
              <a:t>EXPERIMENTAL RESULTS– PREDICTIVE ANALYSIS</a:t>
            </a:r>
          </a:p>
        </p:txBody>
      </p:sp>
      <p:sp>
        <p:nvSpPr>
          <p:cNvPr id="1048737" name="TextBox 12">
            <a:extLst>
              <a:ext uri="{FF2B5EF4-FFF2-40B4-BE49-F238E27FC236}">
                <a16:creationId xmlns:a16="http://schemas.microsoft.com/office/drawing/2014/main" id="{6B2AA8B5-C42F-70CF-1663-06342BDB2DF3}"/>
              </a:ext>
            </a:extLst>
          </p:cNvPr>
          <p:cNvSpPr txBox="1"/>
          <p:nvPr/>
        </p:nvSpPr>
        <p:spPr>
          <a:xfrm>
            <a:off x="1737360" y="6350615"/>
            <a:ext cx="10255865" cy="3577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ts val="2880"/>
              </a:lnSpc>
            </a:pPr>
            <a:r>
              <a:rPr lang="en-US" sz="2400" b="1" spc="-37">
                <a:solidFill>
                  <a:srgbClr val="FFFFFF"/>
                </a:solidFill>
                <a:latin typeface="Trirong Bold"/>
                <a:ea typeface="Trirong Bold"/>
                <a:cs typeface="Trirong Bold"/>
                <a:sym typeface="Trirong Bold"/>
              </a:rPr>
              <a:t>Department of Electronics and communication Engineering</a:t>
            </a:r>
            <a:endParaRPr lang="zh-CN" altLang="en-US" sz="1200"/>
          </a:p>
        </p:txBody>
      </p:sp>
      <p:sp>
        <p:nvSpPr>
          <p:cNvPr id="5" name="TextBox 4">
            <a:extLst>
              <a:ext uri="{FF2B5EF4-FFF2-40B4-BE49-F238E27FC236}">
                <a16:creationId xmlns:a16="http://schemas.microsoft.com/office/drawing/2014/main" id="{7393AE28-9B1F-6A9E-4444-E99C913F48D1}"/>
              </a:ext>
            </a:extLst>
          </p:cNvPr>
          <p:cNvSpPr txBox="1"/>
          <p:nvPr/>
        </p:nvSpPr>
        <p:spPr>
          <a:xfrm>
            <a:off x="5272943" y="5791230"/>
            <a:ext cx="342162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UI DASHBOARD</a:t>
            </a:r>
            <a:endParaRPr lang="en-IN"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DD07959-69DF-80F8-1AB8-73C04029098F}"/>
              </a:ext>
            </a:extLst>
          </p:cNvPr>
          <p:cNvPicPr>
            <a:picLocks noChangeAspect="1"/>
          </p:cNvPicPr>
          <p:nvPr/>
        </p:nvPicPr>
        <p:blipFill rotWithShape="1">
          <a:blip r:embed="rId4">
            <a:extLst>
              <a:ext uri="{28A0092B-C50C-407E-A947-70E740481C1C}">
                <a14:useLocalDpi xmlns:a14="http://schemas.microsoft.com/office/drawing/2010/main" val="0"/>
              </a:ext>
            </a:extLst>
          </a:blip>
          <a:srcRect l="1196" r="1129"/>
          <a:stretch>
            <a:fillRect/>
          </a:stretch>
        </p:blipFill>
        <p:spPr bwMode="auto">
          <a:xfrm>
            <a:off x="2286000" y="1438059"/>
            <a:ext cx="7620000" cy="422654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09572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B0B0E-6B00-D686-0D4E-FC38250F91EB}"/>
            </a:ext>
          </a:extLst>
        </p:cNvPr>
        <p:cNvGrpSpPr/>
        <p:nvPr/>
      </p:nvGrpSpPr>
      <p:grpSpPr>
        <a:xfrm>
          <a:off x="0" y="0"/>
          <a:ext cx="0" cy="0"/>
          <a:chOff x="0" y="0"/>
          <a:chExt cx="0" cy="0"/>
        </a:xfrm>
      </p:grpSpPr>
      <p:grpSp>
        <p:nvGrpSpPr>
          <p:cNvPr id="44" name="Group 4">
            <a:extLst>
              <a:ext uri="{FF2B5EF4-FFF2-40B4-BE49-F238E27FC236}">
                <a16:creationId xmlns:a16="http://schemas.microsoft.com/office/drawing/2014/main" id="{5D4999D2-506A-346A-20F0-2E5BB186D9B1}"/>
              </a:ext>
            </a:extLst>
          </p:cNvPr>
          <p:cNvGrpSpPr>
            <a:grpSpLocks noChangeAspect="1"/>
          </p:cNvGrpSpPr>
          <p:nvPr/>
        </p:nvGrpSpPr>
        <p:grpSpPr>
          <a:xfrm>
            <a:off x="1114107" y="1"/>
            <a:ext cx="11077893" cy="761999"/>
            <a:chOff x="2228213" y="0"/>
            <a:chExt cx="22155787" cy="1523999"/>
          </a:xfrm>
        </p:grpSpPr>
        <p:sp>
          <p:nvSpPr>
            <p:cNvPr id="1048629" name="Freeform 5" descr="ppt-2.jpg">
              <a:extLst>
                <a:ext uri="{FF2B5EF4-FFF2-40B4-BE49-F238E27FC236}">
                  <a16:creationId xmlns:a16="http://schemas.microsoft.com/office/drawing/2014/main" id="{662517D9-AA50-8203-5C59-EE2B13CBAE84}"/>
                </a:ext>
              </a:extLst>
            </p:cNvPr>
            <p:cNvSpPr/>
            <p:nvPr/>
          </p:nvSpPr>
          <p:spPr>
            <a:xfrm>
              <a:off x="2228213" y="0"/>
              <a:ext cx="22155787" cy="1523999"/>
            </a:xfrm>
            <a:custGeom>
              <a:avLst/>
              <a:gdLst/>
              <a:ahLst/>
              <a:cxnLst/>
              <a:rect l="l" t="t" r="r" b="b"/>
              <a:pathLst>
                <a:path w="24384000" h="1524000">
                  <a:moveTo>
                    <a:pt x="0" y="0"/>
                  </a:moveTo>
                  <a:lnTo>
                    <a:pt x="24384000" y="0"/>
                  </a:lnTo>
                  <a:lnTo>
                    <a:pt x="24384000" y="1524000"/>
                  </a:lnTo>
                  <a:lnTo>
                    <a:pt x="0" y="1524000"/>
                  </a:lnTo>
                  <a:lnTo>
                    <a:pt x="0" y="0"/>
                  </a:lnTo>
                  <a:close/>
                </a:path>
              </a:pathLst>
            </a:custGeom>
            <a:blipFill>
              <a:blip r:embed="rId2"/>
              <a:stretch>
                <a:fillRect l="-10057" r="-55449"/>
              </a:stretch>
            </a:blipFill>
          </p:spPr>
        </p:sp>
      </p:grpSp>
      <p:sp>
        <p:nvSpPr>
          <p:cNvPr id="1048630" name="TextBox 8">
            <a:extLst>
              <a:ext uri="{FF2B5EF4-FFF2-40B4-BE49-F238E27FC236}">
                <a16:creationId xmlns:a16="http://schemas.microsoft.com/office/drawing/2014/main" id="{978462BA-C785-2BAA-E1D6-99E078FE67AB}"/>
              </a:ext>
            </a:extLst>
          </p:cNvPr>
          <p:cNvSpPr txBox="1"/>
          <p:nvPr/>
        </p:nvSpPr>
        <p:spPr>
          <a:xfrm>
            <a:off x="1114107" y="34422"/>
            <a:ext cx="10317479" cy="615553"/>
          </a:xfrm>
          <a:prstGeom prst="rect">
            <a:avLst/>
          </a:prstGeom>
        </p:spPr>
        <p:txBody>
          <a:bodyPr lIns="0" tIns="0" rIns="0" bIns="0" rtlCol="0" anchor="t">
            <a:spAutoFit/>
          </a:bodyPr>
          <a:lstStyle/>
          <a:p>
            <a:pPr algn="ctr">
              <a:lnSpc>
                <a:spcPts val="2880"/>
              </a:lnSpc>
            </a:pPr>
            <a:r>
              <a:rPr lang="en-US" sz="2400" b="1">
                <a:solidFill>
                  <a:srgbClr val="FFFFFF"/>
                </a:solidFill>
                <a:latin typeface="Times New Roman Bold"/>
                <a:ea typeface="Times New Roman Bold"/>
                <a:cs typeface="Times New Roman Bold"/>
                <a:sym typeface="Times New Roman Bold"/>
              </a:rPr>
              <a:t>PRATHYUSHA ENGINEERING COLLEGE</a:t>
            </a:r>
          </a:p>
          <a:p>
            <a:pPr algn="ctr">
              <a:lnSpc>
                <a:spcPts val="1919"/>
              </a:lnSpc>
            </a:pPr>
            <a:r>
              <a:rPr lang="en-US" sz="1600" b="1">
                <a:solidFill>
                  <a:srgbClr val="FFFFFF"/>
                </a:solidFill>
                <a:latin typeface="Times New Roman Bold"/>
                <a:ea typeface="Times New Roman Bold"/>
                <a:cs typeface="Times New Roman Bold"/>
                <a:sym typeface="Times New Roman Bold"/>
              </a:rPr>
              <a:t>(An AUTONOMOUS INSTITUTION)</a:t>
            </a:r>
          </a:p>
        </p:txBody>
      </p:sp>
      <p:grpSp>
        <p:nvGrpSpPr>
          <p:cNvPr id="45" name="Group 9">
            <a:extLst>
              <a:ext uri="{FF2B5EF4-FFF2-40B4-BE49-F238E27FC236}">
                <a16:creationId xmlns:a16="http://schemas.microsoft.com/office/drawing/2014/main" id="{D093FA89-1FFA-F2C2-0EAF-5B19570EF69F}"/>
              </a:ext>
            </a:extLst>
          </p:cNvPr>
          <p:cNvGrpSpPr>
            <a:grpSpLocks noChangeAspect="1"/>
          </p:cNvGrpSpPr>
          <p:nvPr/>
        </p:nvGrpSpPr>
        <p:grpSpPr>
          <a:xfrm>
            <a:off x="761999" y="6312935"/>
            <a:ext cx="11430001" cy="522073"/>
            <a:chOff x="0" y="0"/>
            <a:chExt cx="22860002" cy="1044146"/>
          </a:xfrm>
        </p:grpSpPr>
        <p:sp>
          <p:nvSpPr>
            <p:cNvPr id="1048631" name="Freeform 10" descr="ppt-2.jpg">
              <a:extLst>
                <a:ext uri="{FF2B5EF4-FFF2-40B4-BE49-F238E27FC236}">
                  <a16:creationId xmlns:a16="http://schemas.microsoft.com/office/drawing/2014/main" id="{9048A95B-E2AE-0D8F-E08E-233BFAA10F71}"/>
                </a:ext>
              </a:extLst>
            </p:cNvPr>
            <p:cNvSpPr/>
            <p:nvPr/>
          </p:nvSpPr>
          <p:spPr>
            <a:xfrm>
              <a:off x="0" y="0"/>
              <a:ext cx="22860000" cy="1044194"/>
            </a:xfrm>
            <a:custGeom>
              <a:avLst/>
              <a:gdLst/>
              <a:ahLst/>
              <a:cxnLst/>
              <a:rect l="l" t="t" r="r" b="b"/>
              <a:pathLst>
                <a:path w="22860000" h="1044194">
                  <a:moveTo>
                    <a:pt x="0" y="0"/>
                  </a:moveTo>
                  <a:lnTo>
                    <a:pt x="22860000" y="0"/>
                  </a:lnTo>
                  <a:lnTo>
                    <a:pt x="22860000" y="1044194"/>
                  </a:lnTo>
                  <a:lnTo>
                    <a:pt x="0" y="1044194"/>
                  </a:lnTo>
                  <a:lnTo>
                    <a:pt x="0" y="0"/>
                  </a:lnTo>
                  <a:close/>
                </a:path>
              </a:pathLst>
            </a:custGeom>
            <a:blipFill>
              <a:blip r:embed="rId2"/>
              <a:stretch>
                <a:fillRect r="-9901" b="4"/>
              </a:stretch>
            </a:blipFill>
          </p:spPr>
        </p:sp>
      </p:grpSp>
      <p:sp>
        <p:nvSpPr>
          <p:cNvPr id="1048632" name="TextBox 11">
            <a:extLst>
              <a:ext uri="{FF2B5EF4-FFF2-40B4-BE49-F238E27FC236}">
                <a16:creationId xmlns:a16="http://schemas.microsoft.com/office/drawing/2014/main" id="{ADC99A44-987D-0981-4C88-A726469B9E3B}"/>
              </a:ext>
            </a:extLst>
          </p:cNvPr>
          <p:cNvSpPr txBox="1"/>
          <p:nvPr/>
        </p:nvSpPr>
        <p:spPr>
          <a:xfrm>
            <a:off x="137160" y="6259830"/>
            <a:ext cx="778827" cy="348942"/>
          </a:xfrm>
          <a:prstGeom prst="rect">
            <a:avLst/>
          </a:prstGeom>
        </p:spPr>
        <p:txBody>
          <a:bodyPr lIns="0" tIns="0" rIns="0" bIns="0" rtlCol="0" anchor="t">
            <a:spAutoFit/>
          </a:bodyPr>
          <a:lstStyle/>
          <a:p>
            <a:pPr algn="ctr">
              <a:lnSpc>
                <a:spcPts val="2880"/>
              </a:lnSpc>
            </a:pPr>
            <a:r>
              <a:rPr lang="en-US" sz="2400" b="1">
                <a:solidFill>
                  <a:srgbClr val="960000"/>
                </a:solidFill>
                <a:latin typeface="Arial"/>
                <a:ea typeface="Arial"/>
                <a:cs typeface="Arial"/>
                <a:sym typeface="Arial"/>
              </a:rPr>
              <a:t>ECE</a:t>
            </a:r>
          </a:p>
        </p:txBody>
      </p:sp>
      <p:sp>
        <p:nvSpPr>
          <p:cNvPr id="1048634" name="TextBox 13">
            <a:extLst>
              <a:ext uri="{FF2B5EF4-FFF2-40B4-BE49-F238E27FC236}">
                <a16:creationId xmlns:a16="http://schemas.microsoft.com/office/drawing/2014/main" id="{17506C77-27D1-939B-1D4B-B54728614CEC}"/>
              </a:ext>
            </a:extLst>
          </p:cNvPr>
          <p:cNvSpPr txBox="1"/>
          <p:nvPr/>
        </p:nvSpPr>
        <p:spPr>
          <a:xfrm>
            <a:off x="8778240" y="6339840"/>
            <a:ext cx="2804160" cy="264175"/>
          </a:xfrm>
          <a:prstGeom prst="rect">
            <a:avLst/>
          </a:prstGeom>
        </p:spPr>
        <p:txBody>
          <a:bodyPr lIns="0" tIns="0" rIns="0" bIns="0" rtlCol="0" anchor="t">
            <a:spAutoFit/>
          </a:bodyPr>
          <a:lstStyle/>
          <a:p>
            <a:pPr algn="r">
              <a:lnSpc>
                <a:spcPts val="2160"/>
              </a:lnSpc>
            </a:pPr>
            <a:r>
              <a:rPr lang="en-US">
                <a:solidFill>
                  <a:srgbClr val="898989"/>
                </a:solidFill>
                <a:latin typeface="Calibri (MS)"/>
                <a:ea typeface="Calibri (MS)"/>
                <a:cs typeface="Calibri (MS)"/>
                <a:sym typeface="Calibri (MS)"/>
              </a:rPr>
              <a:t>2</a:t>
            </a:r>
          </a:p>
        </p:txBody>
      </p:sp>
      <p:pic>
        <p:nvPicPr>
          <p:cNvPr id="2097158" name="Picture 13">
            <a:extLst>
              <a:ext uri="{FF2B5EF4-FFF2-40B4-BE49-F238E27FC236}">
                <a16:creationId xmlns:a16="http://schemas.microsoft.com/office/drawing/2014/main" id="{A3F9EBBB-B531-2B4B-081D-96F444ED0F51}"/>
              </a:ext>
            </a:extLst>
          </p:cNvPr>
          <p:cNvPicPr>
            <a:picLocks noChangeAspect="1"/>
          </p:cNvPicPr>
          <p:nvPr/>
        </p:nvPicPr>
        <p:blipFill>
          <a:blip r:embed="rId3"/>
          <a:srcRect t="1306"/>
          <a:stretch>
            <a:fillRect/>
          </a:stretch>
        </p:blipFill>
        <p:spPr>
          <a:xfrm>
            <a:off x="137160" y="22968"/>
            <a:ext cx="1026477" cy="864845"/>
          </a:xfrm>
          <a:prstGeom prst="rect">
            <a:avLst/>
          </a:prstGeom>
        </p:spPr>
      </p:pic>
      <p:sp>
        <p:nvSpPr>
          <p:cNvPr id="1048635" name="TextBox 1">
            <a:extLst>
              <a:ext uri="{FF2B5EF4-FFF2-40B4-BE49-F238E27FC236}">
                <a16:creationId xmlns:a16="http://schemas.microsoft.com/office/drawing/2014/main" id="{C29F2AEA-D7D7-6D38-D8D7-93A4CE6D247E}"/>
              </a:ext>
            </a:extLst>
          </p:cNvPr>
          <p:cNvSpPr txBox="1"/>
          <p:nvPr/>
        </p:nvSpPr>
        <p:spPr>
          <a:xfrm>
            <a:off x="2625704" y="616299"/>
            <a:ext cx="8479176" cy="718466"/>
          </a:xfrm>
          <a:prstGeom prst="rect">
            <a:avLst/>
          </a:prstGeom>
          <a:noFill/>
        </p:spPr>
        <p:txBody>
          <a:bodyPr wrap="square" rtlCol="0">
            <a:spAutoFit/>
          </a:bodyPr>
          <a:lstStyle/>
          <a:p>
            <a:pPr>
              <a:lnSpc>
                <a:spcPct val="200000"/>
              </a:lnSpc>
            </a:pPr>
            <a:r>
              <a:rPr lang="en-IN" sz="2400" b="1" u="sng" dirty="0">
                <a:latin typeface="Times New Roman" panose="02020603050405020304" pitchFamily="18" charset="0"/>
                <a:cs typeface="Times New Roman" panose="02020603050405020304" pitchFamily="18" charset="0"/>
              </a:rPr>
              <a:t>EXPERIMENTAL RESULTS– PREDICTIVE ANALYSIS</a:t>
            </a:r>
          </a:p>
        </p:txBody>
      </p:sp>
      <p:sp>
        <p:nvSpPr>
          <p:cNvPr id="1048737" name="TextBox 12">
            <a:extLst>
              <a:ext uri="{FF2B5EF4-FFF2-40B4-BE49-F238E27FC236}">
                <a16:creationId xmlns:a16="http://schemas.microsoft.com/office/drawing/2014/main" id="{A3465C53-51F7-EC3B-77B8-DCD154E041C6}"/>
              </a:ext>
            </a:extLst>
          </p:cNvPr>
          <p:cNvSpPr txBox="1"/>
          <p:nvPr/>
        </p:nvSpPr>
        <p:spPr>
          <a:xfrm>
            <a:off x="1737360" y="6350615"/>
            <a:ext cx="10255865" cy="3577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ts val="2880"/>
              </a:lnSpc>
            </a:pPr>
            <a:r>
              <a:rPr lang="en-US" sz="2400" b="1" spc="-37">
                <a:solidFill>
                  <a:srgbClr val="FFFFFF"/>
                </a:solidFill>
                <a:latin typeface="Trirong Bold"/>
                <a:ea typeface="Trirong Bold"/>
                <a:cs typeface="Trirong Bold"/>
                <a:sym typeface="Trirong Bold"/>
              </a:rPr>
              <a:t>Department of Electronics and communication Engineering</a:t>
            </a:r>
            <a:endParaRPr lang="zh-CN" altLang="en-US" sz="1200"/>
          </a:p>
        </p:txBody>
      </p:sp>
      <p:sp>
        <p:nvSpPr>
          <p:cNvPr id="5" name="TextBox 4">
            <a:extLst>
              <a:ext uri="{FF2B5EF4-FFF2-40B4-BE49-F238E27FC236}">
                <a16:creationId xmlns:a16="http://schemas.microsoft.com/office/drawing/2014/main" id="{840E41E5-F699-1688-65A8-90505954DB39}"/>
              </a:ext>
            </a:extLst>
          </p:cNvPr>
          <p:cNvSpPr txBox="1"/>
          <p:nvPr/>
        </p:nvSpPr>
        <p:spPr>
          <a:xfrm>
            <a:off x="4407703" y="5443479"/>
            <a:ext cx="517186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OUTPUT OF PREDICTIVE ANALYSIS</a:t>
            </a:r>
            <a:endParaRPr lang="en-IN"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0A4A9A5-A9B8-D2DE-8A2A-22F10957916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08701" y="1550628"/>
            <a:ext cx="3147060" cy="3794760"/>
          </a:xfrm>
          <a:prstGeom prst="rect">
            <a:avLst/>
          </a:prstGeom>
          <a:noFill/>
          <a:ln>
            <a:noFill/>
          </a:ln>
        </p:spPr>
      </p:pic>
      <p:pic>
        <p:nvPicPr>
          <p:cNvPr id="4" name="Picture 3">
            <a:extLst>
              <a:ext uri="{FF2B5EF4-FFF2-40B4-BE49-F238E27FC236}">
                <a16:creationId xmlns:a16="http://schemas.microsoft.com/office/drawing/2014/main" id="{EE6BD9F4-EA86-5CEC-1404-644F6D36339D}"/>
              </a:ext>
            </a:extLst>
          </p:cNvPr>
          <p:cNvPicPr>
            <a:picLocks noChangeAspect="1"/>
          </p:cNvPicPr>
          <p:nvPr/>
        </p:nvPicPr>
        <p:blipFill rotWithShape="1">
          <a:blip r:embed="rId5">
            <a:extLst>
              <a:ext uri="{28A0092B-C50C-407E-A947-70E740481C1C}">
                <a14:useLocalDpi xmlns:a14="http://schemas.microsoft.com/office/drawing/2010/main" val="0"/>
              </a:ext>
            </a:extLst>
          </a:blip>
          <a:srcRect t="1414" r="2884"/>
          <a:stretch>
            <a:fillRect/>
          </a:stretch>
        </p:blipFill>
        <p:spPr bwMode="auto">
          <a:xfrm>
            <a:off x="4218167" y="1712849"/>
            <a:ext cx="2775468" cy="3352546"/>
          </a:xfrm>
          <a:prstGeom prst="rect">
            <a:avLst/>
          </a:prstGeom>
          <a:noFill/>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B05C7F9C-4FEA-0555-1DFB-2C2C330867A9}"/>
              </a:ext>
            </a:extLst>
          </p:cNvPr>
          <p:cNvPicPr>
            <a:picLocks noChangeAspect="1"/>
          </p:cNvPicPr>
          <p:nvPr/>
        </p:nvPicPr>
        <p:blipFill rotWithShape="1">
          <a:blip r:embed="rId6">
            <a:extLst>
              <a:ext uri="{28A0092B-C50C-407E-A947-70E740481C1C}">
                <a14:useLocalDpi xmlns:a14="http://schemas.microsoft.com/office/drawing/2010/main" val="0"/>
              </a:ext>
            </a:extLst>
          </a:blip>
          <a:srcRect l="1687"/>
          <a:stretch>
            <a:fillRect/>
          </a:stretch>
        </p:blipFill>
        <p:spPr bwMode="auto">
          <a:xfrm>
            <a:off x="7791075" y="1692715"/>
            <a:ext cx="2887739" cy="335254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99085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EF285F-5C8E-8526-8AAC-FBDD35333D38}"/>
            </a:ext>
          </a:extLst>
        </p:cNvPr>
        <p:cNvGrpSpPr/>
        <p:nvPr/>
      </p:nvGrpSpPr>
      <p:grpSpPr>
        <a:xfrm>
          <a:off x="0" y="0"/>
          <a:ext cx="0" cy="0"/>
          <a:chOff x="0" y="0"/>
          <a:chExt cx="0" cy="0"/>
        </a:xfrm>
      </p:grpSpPr>
      <p:pic>
        <p:nvPicPr>
          <p:cNvPr id="21" name="Picture 8" descr="ppt-2.jpg">
            <a:extLst>
              <a:ext uri="{FF2B5EF4-FFF2-40B4-BE49-F238E27FC236}">
                <a16:creationId xmlns:a16="http://schemas.microsoft.com/office/drawing/2014/main" id="{ACB09FCE-AE5B-A51B-F809-4E86FF7C65E9}"/>
              </a:ext>
            </a:extLst>
          </p:cNvPr>
          <p:cNvPicPr>
            <a:picLocks noChangeAspect="1"/>
          </p:cNvPicPr>
          <p:nvPr/>
        </p:nvPicPr>
        <p:blipFill>
          <a:blip r:embed="rId2"/>
          <a:srcRect/>
          <a:stretch>
            <a:fillRect/>
          </a:stretch>
        </p:blipFill>
        <p:spPr bwMode="auto">
          <a:xfrm>
            <a:off x="9525" y="11885"/>
            <a:ext cx="11433176" cy="761999"/>
          </a:xfrm>
          <a:prstGeom prst="rect">
            <a:avLst/>
          </a:prstGeom>
          <a:noFill/>
          <a:ln w="9525">
            <a:noFill/>
            <a:miter lim="800000"/>
            <a:headEnd/>
            <a:tailEnd/>
          </a:ln>
        </p:spPr>
      </p:pic>
      <p:pic>
        <p:nvPicPr>
          <p:cNvPr id="14" name="object 14">
            <a:extLst>
              <a:ext uri="{FF2B5EF4-FFF2-40B4-BE49-F238E27FC236}">
                <a16:creationId xmlns:a16="http://schemas.microsoft.com/office/drawing/2014/main" id="{4AB99539-7A43-C6AA-A164-6E6FC59C7D3E}"/>
              </a:ext>
            </a:extLst>
          </p:cNvPr>
          <p:cNvPicPr/>
          <p:nvPr/>
        </p:nvPicPr>
        <p:blipFill>
          <a:blip r:embed="rId3" cstate="print"/>
          <a:stretch>
            <a:fillRect/>
          </a:stretch>
        </p:blipFill>
        <p:spPr>
          <a:xfrm>
            <a:off x="11442701" y="55731"/>
            <a:ext cx="758824" cy="718154"/>
          </a:xfrm>
          <a:prstGeom prst="rect">
            <a:avLst/>
          </a:prstGeom>
        </p:spPr>
      </p:pic>
      <p:sp>
        <p:nvSpPr>
          <p:cNvPr id="20" name="Subtitle 2">
            <a:extLst>
              <a:ext uri="{FF2B5EF4-FFF2-40B4-BE49-F238E27FC236}">
                <a16:creationId xmlns:a16="http://schemas.microsoft.com/office/drawing/2014/main" id="{DBEC58EA-53D7-BCB3-3A86-3079A36EDFDF}"/>
              </a:ext>
            </a:extLst>
          </p:cNvPr>
          <p:cNvSpPr txBox="1">
            <a:spLocks/>
          </p:cNvSpPr>
          <p:nvPr/>
        </p:nvSpPr>
        <p:spPr>
          <a:xfrm>
            <a:off x="6705600" y="4191000"/>
            <a:ext cx="4956176" cy="12954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cap="all">
              <a:latin typeface="Times New Roman" panose="02020603050405020304" pitchFamily="18" charset="0"/>
            </a:endParaRPr>
          </a:p>
        </p:txBody>
      </p:sp>
      <p:sp>
        <p:nvSpPr>
          <p:cNvPr id="23" name="TextBox 22">
            <a:extLst>
              <a:ext uri="{FF2B5EF4-FFF2-40B4-BE49-F238E27FC236}">
                <a16:creationId xmlns:a16="http://schemas.microsoft.com/office/drawing/2014/main" id="{CC14EFB5-A3EF-5854-B226-ECCAE7D8AF26}"/>
              </a:ext>
            </a:extLst>
          </p:cNvPr>
          <p:cNvSpPr txBox="1"/>
          <p:nvPr/>
        </p:nvSpPr>
        <p:spPr>
          <a:xfrm>
            <a:off x="1062672" y="34877"/>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25" name="Picture 8" descr="ppt-2.jpg">
            <a:extLst>
              <a:ext uri="{FF2B5EF4-FFF2-40B4-BE49-F238E27FC236}">
                <a16:creationId xmlns:a16="http://schemas.microsoft.com/office/drawing/2014/main" id="{D1D64DAC-FC77-8EEA-2F00-C0CDA81ED021}"/>
              </a:ext>
            </a:extLst>
          </p:cNvPr>
          <p:cNvPicPr>
            <a:picLocks noChangeAspect="1"/>
          </p:cNvPicPr>
          <p:nvPr/>
        </p:nvPicPr>
        <p:blipFill>
          <a:blip r:embed="rId2"/>
          <a:srcRect/>
          <a:stretch>
            <a:fillRect/>
          </a:stretch>
        </p:blipFill>
        <p:spPr bwMode="auto">
          <a:xfrm>
            <a:off x="761999" y="6324042"/>
            <a:ext cx="11430001" cy="522073"/>
          </a:xfrm>
          <a:prstGeom prst="rect">
            <a:avLst/>
          </a:prstGeom>
          <a:noFill/>
          <a:ln w="9525">
            <a:noFill/>
            <a:miter lim="800000"/>
            <a:headEnd/>
            <a:tailEnd/>
          </a:ln>
        </p:spPr>
      </p:pic>
      <p:sp>
        <p:nvSpPr>
          <p:cNvPr id="26" name="TextBox 25">
            <a:extLst>
              <a:ext uri="{FF2B5EF4-FFF2-40B4-BE49-F238E27FC236}">
                <a16:creationId xmlns:a16="http://schemas.microsoft.com/office/drawing/2014/main" id="{E013432F-4E13-BBEE-8E97-80E1AD409C65}"/>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2" name="Title 1">
            <a:extLst>
              <a:ext uri="{FF2B5EF4-FFF2-40B4-BE49-F238E27FC236}">
                <a16:creationId xmlns:a16="http://schemas.microsoft.com/office/drawing/2014/main" id="{99502978-7559-55C2-2D4A-5A88D32079EE}"/>
              </a:ext>
            </a:extLst>
          </p:cNvPr>
          <p:cNvSpPr>
            <a:spLocks noGrp="1"/>
          </p:cNvSpPr>
          <p:nvPr>
            <p:ph type="title"/>
          </p:nvPr>
        </p:nvSpPr>
        <p:spPr>
          <a:xfrm>
            <a:off x="913891" y="942540"/>
            <a:ext cx="6277610" cy="430887"/>
          </a:xfrm>
        </p:spPr>
        <p:txBody>
          <a:bodyPr/>
          <a:lstStyle/>
          <a:p>
            <a:r>
              <a:rPr lang="en-IN" sz="2800" b="1" u="sng" dirty="0"/>
              <a:t>CONCLUSION &amp; FUTURE WORKS:</a:t>
            </a:r>
          </a:p>
        </p:txBody>
      </p:sp>
      <p:sp>
        <p:nvSpPr>
          <p:cNvPr id="29" name="Slide Number Placeholder 28">
            <a:extLst>
              <a:ext uri="{FF2B5EF4-FFF2-40B4-BE49-F238E27FC236}">
                <a16:creationId xmlns:a16="http://schemas.microsoft.com/office/drawing/2014/main" id="{E0792787-F793-C407-45C9-C4DDC75E91FB}"/>
              </a:ext>
            </a:extLst>
          </p:cNvPr>
          <p:cNvSpPr>
            <a:spLocks noGrp="1"/>
          </p:cNvSpPr>
          <p:nvPr>
            <p:ph type="sldNum" sz="quarter" idx="7"/>
          </p:nvPr>
        </p:nvSpPr>
        <p:spPr/>
        <p:txBody>
          <a:bodyPr/>
          <a:lstStyle/>
          <a:p>
            <a:fld id="{B6F15528-21DE-4FAA-801E-634DDDAF4B2B}" type="slidenum">
              <a:rPr lang="en-IN" smtClean="0"/>
              <a:pPr/>
              <a:t>14</a:t>
            </a:fld>
            <a:endParaRPr lang="en-IN"/>
          </a:p>
        </p:txBody>
      </p:sp>
      <p:pic>
        <p:nvPicPr>
          <p:cNvPr id="15" name="Picture 2" descr="C:\Users\ADMIN\Downloads\prathyusha newone (2).png">
            <a:extLst>
              <a:ext uri="{FF2B5EF4-FFF2-40B4-BE49-F238E27FC236}">
                <a16:creationId xmlns:a16="http://schemas.microsoft.com/office/drawing/2014/main" id="{47FA8786-725F-6096-CCE2-2E9819CDC81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8907640F-6AB6-F032-CD08-8125ECB0C6CB}"/>
              </a:ext>
            </a:extLst>
          </p:cNvPr>
          <p:cNvSpPr txBox="1"/>
          <p:nvPr/>
        </p:nvSpPr>
        <p:spPr>
          <a:xfrm>
            <a:off x="1124286" y="6340604"/>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7" name="Rectangle 4">
            <a:extLst>
              <a:ext uri="{FF2B5EF4-FFF2-40B4-BE49-F238E27FC236}">
                <a16:creationId xmlns:a16="http://schemas.microsoft.com/office/drawing/2014/main" id="{4A626DA4-0DF6-B856-B142-ED01BCA08223}"/>
              </a:ext>
            </a:extLst>
          </p:cNvPr>
          <p:cNvSpPr>
            <a:spLocks noGrp="1" noChangeArrowheads="1"/>
          </p:cNvSpPr>
          <p:nvPr>
            <p:ph type="body" idx="1"/>
          </p:nvPr>
        </p:nvSpPr>
        <p:spPr bwMode="auto">
          <a:xfrm>
            <a:off x="453071" y="1365657"/>
            <a:ext cx="110490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spcBef>
                <a:spcPct val="0"/>
              </a:spcBef>
              <a:spcAft>
                <a:spcPct val="0"/>
              </a:spcAft>
            </a:pPr>
            <a:endParaRPr lang="en-IN" b="1" u="sng"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proposed motor fault detection system successfully monitors motor vibration and identifies abnormal operating conditions using vibration analysis and machine learning techniques. In this project, an accelerometer sensor is used to capture vibration signals from the motor, and the data is collected through the ESP32 microcontroller. The vibration signals are processed to extract important statistical features such as </a:t>
            </a:r>
            <a:r>
              <a:rPr lang="en-US" b="1" dirty="0">
                <a:latin typeface="Times New Roman" panose="02020603050405020304" pitchFamily="18" charset="0"/>
                <a:cs typeface="Times New Roman" panose="02020603050405020304" pitchFamily="18" charset="0"/>
              </a:rPr>
              <a:t>Root Mean Square (RMS), Peak value, Standard Deviation, </a:t>
            </a:r>
            <a:r>
              <a:rPr lang="en-US" dirty="0">
                <a:latin typeface="Times New Roman" panose="02020603050405020304" pitchFamily="18" charset="0"/>
                <a:cs typeface="Times New Roman" panose="02020603050405020304" pitchFamily="18" charset="0"/>
              </a:rPr>
              <a:t>and</a:t>
            </a:r>
            <a:r>
              <a:rPr lang="en-US" b="1" dirty="0">
                <a:latin typeface="Times New Roman" panose="02020603050405020304" pitchFamily="18" charset="0"/>
                <a:cs typeface="Times New Roman" panose="02020603050405020304" pitchFamily="18" charset="0"/>
              </a:rPr>
              <a:t> Kurtosis.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These extracted features are analyzed using a machine learning model to classify the motor condition. The system is capable of distinguishing between different operating conditions such as </a:t>
            </a:r>
            <a:r>
              <a:rPr lang="en-US" b="1" dirty="0">
                <a:latin typeface="Times New Roman" panose="02020603050405020304" pitchFamily="18" charset="0"/>
                <a:cs typeface="Times New Roman" panose="02020603050405020304" pitchFamily="18" charset="0"/>
              </a:rPr>
              <a:t>normal motor operation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fault conditions</a:t>
            </a:r>
            <a:r>
              <a:rPr lang="en-US" dirty="0">
                <a:latin typeface="Times New Roman" panose="02020603050405020304" pitchFamily="18" charset="0"/>
                <a:cs typeface="Times New Roman" panose="02020603050405020304" pitchFamily="18" charset="0"/>
              </a:rPr>
              <a:t>. The results are displayed through a monitoring interface, enabling easy interpretation of the motor health status.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developed system demonstrates that vibration-based monitoring combined with machine learning provides an effective approach for early fault detection in rotating machinery. This helps in reducing unexpected failures, improving equipment reliability, and supporting predictive maintenance in industrial environments.</a:t>
            </a:r>
          </a:p>
          <a:p>
            <a:pPr lvl="0" algn="l" rtl="0" eaLnBrk="0" fontAlgn="base" hangingPunct="0">
              <a:spcBef>
                <a:spcPct val="0"/>
              </a:spcBef>
              <a:spcAft>
                <a:spcPct val="0"/>
              </a:spcAft>
            </a:pPr>
            <a:endParaRPr kumimoji="0" lang="en-IN"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l" rtl="0" eaLnBrk="0" fontAlgn="base" hangingPunct="0">
              <a:spcBef>
                <a:spcPct val="0"/>
              </a:spcBef>
              <a:spcAft>
                <a:spcPct val="0"/>
              </a:spcAft>
              <a:buFont typeface="Arial" panose="020B0604020202020204" pitchFamily="34" charset="0"/>
              <a:buChar char="•"/>
            </a:pPr>
            <a:endParaRPr lang="en-US"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5628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336124-C588-E312-E7B7-207B2A25A6DB}"/>
            </a:ext>
          </a:extLst>
        </p:cNvPr>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B7A0FB3B-7CB1-2566-EB68-194613548F44}"/>
              </a:ext>
            </a:extLst>
          </p:cNvPr>
          <p:cNvPicPr>
            <a:picLocks noChangeAspect="1"/>
          </p:cNvPicPr>
          <p:nvPr/>
        </p:nvPicPr>
        <p:blipFill>
          <a:blip r:embed="rId3"/>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2E20F5A9-3602-546C-6439-1A36EA009DB9}"/>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1CF0F6B4-AA27-D6FD-8CC0-EF87FDC48BB0}"/>
              </a:ext>
            </a:extLst>
          </p:cNvPr>
          <p:cNvPicPr>
            <a:picLocks noChangeAspect="1"/>
          </p:cNvPicPr>
          <p:nvPr/>
        </p:nvPicPr>
        <p:blipFill>
          <a:blip r:embed="rId3"/>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E1F5195A-36BF-1BE7-1817-D9328609D6BA}"/>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96F4F67F-7F82-5EF3-F010-E2913AD0D726}"/>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D3047317-6012-5557-182E-39986099805A}"/>
              </a:ext>
            </a:extLst>
          </p:cNvPr>
          <p:cNvSpPr>
            <a:spLocks noGrp="1"/>
          </p:cNvSpPr>
          <p:nvPr>
            <p:ph type="sldNum" sz="quarter" idx="7"/>
          </p:nvPr>
        </p:nvSpPr>
        <p:spPr/>
        <p:txBody>
          <a:bodyPr/>
          <a:lstStyle/>
          <a:p>
            <a:fld id="{B6F15528-21DE-4FAA-801E-634DDDAF4B2B}" type="slidenum">
              <a:rPr lang="en-IN" smtClean="0"/>
              <a:pPr/>
              <a:t>15</a:t>
            </a:fld>
            <a:endParaRPr lang="en-IN"/>
          </a:p>
        </p:txBody>
      </p:sp>
      <p:sp>
        <p:nvSpPr>
          <p:cNvPr id="9" name="Text Placeholder 2">
            <a:extLst>
              <a:ext uri="{FF2B5EF4-FFF2-40B4-BE49-F238E27FC236}">
                <a16:creationId xmlns:a16="http://schemas.microsoft.com/office/drawing/2014/main" id="{513A34EE-6653-A3F7-C31F-38E399D48238}"/>
              </a:ext>
            </a:extLst>
          </p:cNvPr>
          <p:cNvSpPr>
            <a:spLocks noGrp="1"/>
          </p:cNvSpPr>
          <p:nvPr>
            <p:ph type="body" idx="1"/>
          </p:nvPr>
        </p:nvSpPr>
        <p:spPr>
          <a:xfrm>
            <a:off x="727037" y="868407"/>
            <a:ext cx="10238935" cy="369332"/>
          </a:xfrm>
        </p:spPr>
        <p:txBody>
          <a:bodyPr/>
          <a:lstStyle/>
          <a:p>
            <a:pPr algn="just"/>
            <a:r>
              <a:rPr lang="en-US" sz="2400" b="1" u="sng" dirty="0">
                <a:latin typeface="Times New Roman" panose="02020603050405020304" pitchFamily="18" charset="0"/>
                <a:cs typeface="Times New Roman" pitchFamily="18" charset="0"/>
              </a:rPr>
              <a:t>REFERENCES:</a:t>
            </a:r>
            <a:endParaRPr lang="en-IN" sz="2400" b="1" u="sng" dirty="0">
              <a:latin typeface="Times New Roman" panose="02020603050405020304" pitchFamily="18" charset="0"/>
              <a:cs typeface="Times New Roman" pitchFamily="18" charset="0"/>
            </a:endParaRPr>
          </a:p>
        </p:txBody>
      </p:sp>
      <p:pic>
        <p:nvPicPr>
          <p:cNvPr id="1026" name="Picture 2" descr="C:\Users\ADMIN\Downloads\prathyusha newone (2).png">
            <a:extLst>
              <a:ext uri="{FF2B5EF4-FFF2-40B4-BE49-F238E27FC236}">
                <a16:creationId xmlns:a16="http://schemas.microsoft.com/office/drawing/2014/main" id="{940F45EB-AEEF-4F24-F3CA-A4092188393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929D0F6-4A8C-CD68-EC2D-B989292A6752}"/>
              </a:ext>
            </a:extLst>
          </p:cNvPr>
          <p:cNvSpPr txBox="1"/>
          <p:nvPr/>
        </p:nvSpPr>
        <p:spPr>
          <a:xfrm>
            <a:off x="526573" y="1280445"/>
            <a:ext cx="10166171" cy="5078313"/>
          </a:xfrm>
          <a:prstGeom prst="rect">
            <a:avLst/>
          </a:prstGeom>
          <a:noFill/>
        </p:spPr>
        <p:txBody>
          <a:bodyPr wrap="square" rtlCol="0">
            <a:spAutoFit/>
          </a:bodyPr>
          <a:lstStyle/>
          <a:p>
            <a:r>
              <a:rPr lang="en-US" sz="1200" dirty="0"/>
              <a:t>[1] Y. Lei, N. Li, L. Guo, N. Li, T. Yan, and J. Lin, “Machinery health prognostics: A systematic review from data acquisition to RUL prediction,” Mechanical Systems and Signal Processing, vol. 104, pp. 799–834, 2020. </a:t>
            </a:r>
            <a:endParaRPr lang="en-IN" sz="1200" dirty="0"/>
          </a:p>
          <a:p>
            <a:r>
              <a:rPr lang="en-US" sz="1200" dirty="0"/>
              <a:t>[2] M. Carvalho, T. P. Nascimento, and R. A. da Silva, “Machine learning based vibration analysis for rotating machinery fault diagnosis,” IEEE Access, vol. 8, pp. 194318–194329, 2020.</a:t>
            </a:r>
            <a:endParaRPr lang="en-IN" sz="1200" dirty="0"/>
          </a:p>
          <a:p>
            <a:r>
              <a:rPr lang="en-US" sz="1200" dirty="0"/>
              <a:t>[3] H. Shao, H. Jiang, H. Zhang, and T. Liang, “Rolling bearing fault diagnosis using deep learning and vibration signal analysis,” IEEE Transactions on Industrial Electronics, vol. 67, no. 5, pp. 4089–4099, 2021.</a:t>
            </a:r>
            <a:endParaRPr lang="en-IN" sz="1200" dirty="0"/>
          </a:p>
          <a:p>
            <a:r>
              <a:rPr lang="en-US" sz="1200" dirty="0"/>
              <a:t>[4] Z. Zhang, Y. Li, and J. Wang, “Intelligent fault diagnosis of rotating machinery using machine learning algorithms,” Sensors, vol. 21, no. 12, pp. 1–18, 2021.</a:t>
            </a:r>
            <a:endParaRPr lang="en-IN" sz="1200" dirty="0"/>
          </a:p>
          <a:p>
            <a:r>
              <a:rPr lang="en-US" sz="1200" dirty="0"/>
              <a:t>[5] X. Li, W. Zhang, and Q. Ding, “Deep learning based machinery fault diagnostics with big data,” IEEE Transactions on Industrial Informatics, vol. 17, no. 5, pp. 3215–3225, 2022.</a:t>
            </a:r>
            <a:endParaRPr lang="en-IN" sz="1200" dirty="0"/>
          </a:p>
          <a:p>
            <a:r>
              <a:rPr lang="en-US" sz="1200" dirty="0"/>
              <a:t>[6] A. K. Verma and S. Sharma, “Vibration based fault diagnosis of induction motors using machine learning techniques,” Measurement, vol. 196, pp. 111–120, 2022.</a:t>
            </a:r>
            <a:endParaRPr lang="en-IN" sz="1200" dirty="0"/>
          </a:p>
          <a:p>
            <a:r>
              <a:rPr lang="en-US" sz="1200" dirty="0"/>
              <a:t>[7] J. Chen, Y. Liu, and H. Wang, “IoT based intelligent monitoring system for industrial motor fault detection,” IEEE Internet of Things Journal, vol. 10, no. 3, pp. 2301–2312, 2023.</a:t>
            </a:r>
            <a:endParaRPr lang="en-IN" sz="1200" dirty="0"/>
          </a:p>
          <a:p>
            <a:r>
              <a:rPr lang="en-US" sz="1200" dirty="0"/>
              <a:t>[8] P. Singh and R. Kumar, “Predictive maintenance of rotating machinery using vibration analysis and machine learning,” IEEE Access, vol. 11, pp. 45211–45223, 2023.</a:t>
            </a:r>
            <a:endParaRPr lang="en-IN" sz="1200" dirty="0"/>
          </a:p>
          <a:p>
            <a:r>
              <a:rPr lang="en-US" sz="1200" dirty="0"/>
              <a:t>[9] L. Zhao, Y. Chen, and X. Li, “A machine learning framework for vibration-based fault diagnosis of rotating equipment,” Sensors, vol. 24, no. 2, pp. 1–15, 2024.</a:t>
            </a:r>
            <a:endParaRPr lang="en-IN" sz="1200" dirty="0"/>
          </a:p>
          <a:p>
            <a:r>
              <a:rPr lang="en-US" sz="1200" dirty="0"/>
              <a:t>[10] K. Patel and S. Mehta, “AI-based predictive maintenance for industrial motors using vibration monitoring,” IEEE Access, vol. 12, pp. 14522–14534, 2025.</a:t>
            </a:r>
            <a:endParaRPr lang="en-IN" sz="1200" dirty="0"/>
          </a:p>
          <a:p>
            <a:r>
              <a:rPr lang="en-US" sz="1200" dirty="0"/>
              <a:t>[11] S. Chen, J. Liu, and H. Zhang, “Intelligent fault diagnosis of rotating machinery using vibration signal analysis and machine learning techniques,” IEEE Access, vol. 9, pp. 118321–118332, 2021.</a:t>
            </a:r>
            <a:endParaRPr lang="en-IN" sz="1200" dirty="0"/>
          </a:p>
          <a:p>
            <a:r>
              <a:rPr lang="en-US" sz="1200" dirty="0"/>
              <a:t>[12] Y. Li, Z. Zhao, and X. Wang, “Vibration-based condition monitoring of industrial motors using machine learning algorithms,” Sensors, vol. 22, no. 8, pp. 1–15, 2022.</a:t>
            </a:r>
            <a:endParaRPr lang="en-IN" sz="1200" dirty="0"/>
          </a:p>
          <a:p>
            <a:r>
              <a:rPr lang="en-US" sz="1200" dirty="0"/>
              <a:t>[13] R. Kumar and P. Singh, “Machine learning based predictive maintenance for rotating machinery using vibration signals,” Measurement, vol. 205, pp. 112–121, 2023.</a:t>
            </a:r>
            <a:endParaRPr lang="en-IN" sz="1200" dirty="0"/>
          </a:p>
          <a:p>
            <a:r>
              <a:rPr lang="en-US" sz="1200" dirty="0"/>
              <a:t>[14] H. Wang, L. Zhang, and Y. Chen, “IoT-enabled vibration monitoring system for real-time motor fault diagnosis,” IEEE Internet of Things Journal, vol. 11, no. 2, pp. 2145–2156, 2024.</a:t>
            </a:r>
            <a:endParaRPr lang="en-IN" sz="1200" dirty="0"/>
          </a:p>
          <a:p>
            <a:r>
              <a:rPr lang="en-US" sz="1200" dirty="0"/>
              <a:t>[15] K. Sharma and A. Patel, “Artificial intelligence based vibration monitoring system for predictive maintenance of industrial motors,” IEEE Access, vol. 13, pp. 24512–24524, 2025. </a:t>
            </a:r>
            <a:endParaRPr lang="en-IN" sz="1200" dirty="0"/>
          </a:p>
        </p:txBody>
      </p:sp>
    </p:spTree>
    <p:extLst>
      <p:ext uri="{BB962C8B-B14F-4D97-AF65-F5344CB8AC3E}">
        <p14:creationId xmlns:p14="http://schemas.microsoft.com/office/powerpoint/2010/main" val="600304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4D2BB3A-4292-CD9A-20F4-64EB43D1B590}"/>
            </a:ext>
          </a:extLst>
        </p:cNvPr>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6042E928-0A4C-E7FD-5C51-2BB257E9FA58}"/>
              </a:ext>
            </a:extLst>
          </p:cNvPr>
          <p:cNvPicPr>
            <a:picLocks noChangeAspect="1"/>
          </p:cNvPicPr>
          <p:nvPr/>
        </p:nvPicPr>
        <p:blipFill>
          <a:blip r:embed="rId2"/>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F6407FF0-09E3-EFD0-D739-BC2564D30260}"/>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6712ECD6-907F-3236-4339-E071F6491018}"/>
              </a:ext>
            </a:extLst>
          </p:cNvPr>
          <p:cNvPicPr>
            <a:picLocks noChangeAspect="1"/>
          </p:cNvPicPr>
          <p:nvPr/>
        </p:nvPicPr>
        <p:blipFill>
          <a:blip r:embed="rId2"/>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1B58C00B-937F-1A22-5099-10A7FF6A0CC7}"/>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FC568D3C-DBC3-D9E5-D4EE-69C8AC0B7673}"/>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4DEEFF1C-2B8F-2CED-F183-769AE034F87D}"/>
              </a:ext>
            </a:extLst>
          </p:cNvPr>
          <p:cNvSpPr>
            <a:spLocks noGrp="1"/>
          </p:cNvSpPr>
          <p:nvPr>
            <p:ph type="sldNum" sz="quarter" idx="7"/>
          </p:nvPr>
        </p:nvSpPr>
        <p:spPr/>
        <p:txBody>
          <a:bodyPr/>
          <a:lstStyle/>
          <a:p>
            <a:fld id="{B6F15528-21DE-4FAA-801E-634DDDAF4B2B}" type="slidenum">
              <a:rPr lang="en-IN" smtClean="0"/>
              <a:pPr/>
              <a:t>16</a:t>
            </a:fld>
            <a:endParaRPr lang="en-IN"/>
          </a:p>
        </p:txBody>
      </p:sp>
      <p:sp>
        <p:nvSpPr>
          <p:cNvPr id="9" name="Text Placeholder 2">
            <a:extLst>
              <a:ext uri="{FF2B5EF4-FFF2-40B4-BE49-F238E27FC236}">
                <a16:creationId xmlns:a16="http://schemas.microsoft.com/office/drawing/2014/main" id="{987092CC-68DB-91D2-C3FA-C51BD9744102}"/>
              </a:ext>
            </a:extLst>
          </p:cNvPr>
          <p:cNvSpPr>
            <a:spLocks noGrp="1"/>
          </p:cNvSpPr>
          <p:nvPr>
            <p:ph type="body" idx="1"/>
          </p:nvPr>
        </p:nvSpPr>
        <p:spPr>
          <a:xfrm>
            <a:off x="526573" y="1153535"/>
            <a:ext cx="10238935" cy="369332"/>
          </a:xfrm>
        </p:spPr>
        <p:txBody>
          <a:bodyPr/>
          <a:lstStyle/>
          <a:p>
            <a:pPr algn="just"/>
            <a:r>
              <a:rPr lang="en-US" sz="2400" b="1" u="sng" dirty="0">
                <a:latin typeface="Times New Roman" panose="02020603050405020304" pitchFamily="18" charset="0"/>
                <a:cs typeface="Times New Roman" panose="02020603050405020304" pitchFamily="18" charset="0"/>
              </a:rPr>
              <a:t>INTERNSHIP CERTIFICATE</a:t>
            </a:r>
          </a:p>
        </p:txBody>
      </p:sp>
      <p:pic>
        <p:nvPicPr>
          <p:cNvPr id="1026" name="Picture 2" descr="C:\Users\ADMIN\Downloads\prathyusha newone (2).png">
            <a:extLst>
              <a:ext uri="{FF2B5EF4-FFF2-40B4-BE49-F238E27FC236}">
                <a16:creationId xmlns:a16="http://schemas.microsoft.com/office/drawing/2014/main" id="{08BD04BF-3C91-9928-8E8A-511A9480CC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A399347-D641-1504-7990-9C87F16BE3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6644" y="1558231"/>
            <a:ext cx="3743931" cy="4565225"/>
          </a:xfrm>
          <a:prstGeom prst="rect">
            <a:avLst/>
          </a:prstGeom>
        </p:spPr>
      </p:pic>
      <p:pic>
        <p:nvPicPr>
          <p:cNvPr id="6" name="Picture 5">
            <a:extLst>
              <a:ext uri="{FF2B5EF4-FFF2-40B4-BE49-F238E27FC236}">
                <a16:creationId xmlns:a16="http://schemas.microsoft.com/office/drawing/2014/main" id="{93CA11A8-171D-B44A-F16C-A201C944799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3060" y="1753485"/>
            <a:ext cx="3709014" cy="4369972"/>
          </a:xfrm>
          <a:prstGeom prst="rect">
            <a:avLst/>
          </a:prstGeom>
        </p:spPr>
      </p:pic>
      <p:pic>
        <p:nvPicPr>
          <p:cNvPr id="13" name="Picture 12">
            <a:extLst>
              <a:ext uri="{FF2B5EF4-FFF2-40B4-BE49-F238E27FC236}">
                <a16:creationId xmlns:a16="http://schemas.microsoft.com/office/drawing/2014/main" id="{540AC240-78B8-F451-A1BE-C6560AE1889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60575" y="1558232"/>
            <a:ext cx="3874734" cy="4565224"/>
          </a:xfrm>
          <a:prstGeom prst="rect">
            <a:avLst/>
          </a:prstGeom>
        </p:spPr>
      </p:pic>
    </p:spTree>
    <p:extLst>
      <p:ext uri="{BB962C8B-B14F-4D97-AF65-F5344CB8AC3E}">
        <p14:creationId xmlns:p14="http://schemas.microsoft.com/office/powerpoint/2010/main" val="1823914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7199E02-C309-794D-FBC9-536D976162EC}"/>
            </a:ext>
          </a:extLst>
        </p:cNvPr>
        <p:cNvGrpSpPr/>
        <p:nvPr/>
      </p:nvGrpSpPr>
      <p:grpSpPr>
        <a:xfrm>
          <a:off x="0" y="0"/>
          <a:ext cx="0" cy="0"/>
          <a:chOff x="0" y="0"/>
          <a:chExt cx="0" cy="0"/>
        </a:xfrm>
      </p:grpSpPr>
      <p:pic>
        <p:nvPicPr>
          <p:cNvPr id="4" name="Picture 8" descr="ppt-2.jpg">
            <a:extLst>
              <a:ext uri="{FF2B5EF4-FFF2-40B4-BE49-F238E27FC236}">
                <a16:creationId xmlns:a16="http://schemas.microsoft.com/office/drawing/2014/main" id="{7C80B1D8-F319-690B-8C59-1B705BBFF79B}"/>
              </a:ext>
            </a:extLst>
          </p:cNvPr>
          <p:cNvPicPr>
            <a:picLocks noChangeAspect="1"/>
          </p:cNvPicPr>
          <p:nvPr/>
        </p:nvPicPr>
        <p:blipFill>
          <a:blip r:embed="rId2"/>
          <a:srcRect/>
          <a:stretch>
            <a:fillRect/>
          </a:stretch>
        </p:blipFill>
        <p:spPr bwMode="auto">
          <a:xfrm>
            <a:off x="0" y="0"/>
            <a:ext cx="12192000" cy="761999"/>
          </a:xfrm>
          <a:prstGeom prst="rect">
            <a:avLst/>
          </a:prstGeom>
          <a:noFill/>
          <a:ln w="9525">
            <a:noFill/>
            <a:miter lim="800000"/>
            <a:headEnd/>
            <a:tailEnd/>
          </a:ln>
        </p:spPr>
      </p:pic>
      <p:sp>
        <p:nvSpPr>
          <p:cNvPr id="7" name="TextBox 6">
            <a:extLst>
              <a:ext uri="{FF2B5EF4-FFF2-40B4-BE49-F238E27FC236}">
                <a16:creationId xmlns:a16="http://schemas.microsoft.com/office/drawing/2014/main" id="{CEF51475-4A4B-05D9-0452-687EE013C9D3}"/>
              </a:ext>
            </a:extLst>
          </p:cNvPr>
          <p:cNvSpPr txBox="1"/>
          <p:nvPr/>
        </p:nvSpPr>
        <p:spPr>
          <a:xfrm>
            <a:off x="1053147" y="22992"/>
            <a:ext cx="10439399" cy="784830"/>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Times New Roman" panose="02020603050405020304" pitchFamily="18" charset="0"/>
                <a:ea typeface="Aharoni" pitchFamily="2" charset="0"/>
                <a:cs typeface="Times New Roman" panose="02020603050405020304" pitchFamily="18" charset="0"/>
              </a:rPr>
              <a:t>PRATHYUSHA ENGINEERING COLLEGE</a:t>
            </a:r>
          </a:p>
          <a:p>
            <a:pPr algn="ctr" eaLnBrk="1" hangingPunct="1">
              <a:spcAft>
                <a:spcPts val="600"/>
              </a:spcAft>
            </a:pPr>
            <a:r>
              <a:rPr lang="en-US" altLang="en-US" sz="1600" b="1">
                <a:solidFill>
                  <a:schemeClr val="bg1"/>
                </a:solidFill>
                <a:latin typeface="Times New Roman" panose="02020603050405020304" pitchFamily="18" charset="0"/>
                <a:ea typeface="Aharoni" pitchFamily="2" charset="0"/>
                <a:cs typeface="Times New Roman" panose="02020603050405020304" pitchFamily="18" charset="0"/>
              </a:rPr>
              <a:t>(An AUTONOMOUS INSTITUTION)</a:t>
            </a:r>
          </a:p>
        </p:txBody>
      </p:sp>
      <p:pic>
        <p:nvPicPr>
          <p:cNvPr id="10" name="Picture 8" descr="ppt-2.jpg">
            <a:extLst>
              <a:ext uri="{FF2B5EF4-FFF2-40B4-BE49-F238E27FC236}">
                <a16:creationId xmlns:a16="http://schemas.microsoft.com/office/drawing/2014/main" id="{D5F10041-2E7C-B6BB-C18E-C5AF13D06C6C}"/>
              </a:ext>
            </a:extLst>
          </p:cNvPr>
          <p:cNvPicPr>
            <a:picLocks noChangeAspect="1"/>
          </p:cNvPicPr>
          <p:nvPr/>
        </p:nvPicPr>
        <p:blipFill>
          <a:blip r:embed="rId2"/>
          <a:srcRect/>
          <a:stretch>
            <a:fillRect/>
          </a:stretch>
        </p:blipFill>
        <p:spPr bwMode="auto">
          <a:xfrm>
            <a:off x="761999" y="6312935"/>
            <a:ext cx="11430001" cy="522073"/>
          </a:xfrm>
          <a:prstGeom prst="rect">
            <a:avLst/>
          </a:prstGeom>
          <a:noFill/>
          <a:ln w="9525">
            <a:noFill/>
            <a:miter lim="800000"/>
            <a:headEnd/>
            <a:tailEnd/>
          </a:ln>
        </p:spPr>
      </p:pic>
      <p:sp>
        <p:nvSpPr>
          <p:cNvPr id="12" name="TextBox 11">
            <a:extLst>
              <a:ext uri="{FF2B5EF4-FFF2-40B4-BE49-F238E27FC236}">
                <a16:creationId xmlns:a16="http://schemas.microsoft.com/office/drawing/2014/main" id="{C0DB8C14-0F56-2FF4-1D76-CFD906BDD507}"/>
              </a:ext>
            </a:extLst>
          </p:cNvPr>
          <p:cNvSpPr txBox="1"/>
          <p:nvPr/>
        </p:nvSpPr>
        <p:spPr>
          <a:xfrm>
            <a:off x="76200" y="6248400"/>
            <a:ext cx="900747" cy="461665"/>
          </a:xfrm>
          <a:prstGeom prst="rect">
            <a:avLst/>
          </a:prstGeom>
          <a:noFill/>
        </p:spPr>
        <p:txBody>
          <a:bodyPr wrap="square">
            <a:spAutoFit/>
          </a:bodyPr>
          <a:lstStyle/>
          <a:p>
            <a:pPr algn="ctr" eaLnBrk="1" hangingPunct="1">
              <a:spcAft>
                <a:spcPts val="600"/>
              </a:spcAft>
            </a:pPr>
            <a:r>
              <a:rPr lang="en-US" altLang="en-US" sz="2400">
                <a:solidFill>
                  <a:srgbClr val="960000"/>
                </a:solidFill>
                <a:latin typeface="Arial Black" pitchFamily="34" charset="0"/>
                <a:ea typeface="Aharoni" pitchFamily="2" charset="0"/>
                <a:cs typeface="Aharoni" pitchFamily="2" charset="0"/>
              </a:rPr>
              <a:t>ECE</a:t>
            </a:r>
          </a:p>
        </p:txBody>
      </p:sp>
      <p:sp>
        <p:nvSpPr>
          <p:cNvPr id="14" name="TextBox 13">
            <a:extLst>
              <a:ext uri="{FF2B5EF4-FFF2-40B4-BE49-F238E27FC236}">
                <a16:creationId xmlns:a16="http://schemas.microsoft.com/office/drawing/2014/main" id="{545B3E30-7A2D-096C-6892-DECC1BB16654}"/>
              </a:ext>
            </a:extLst>
          </p:cNvPr>
          <p:cNvSpPr txBox="1"/>
          <p:nvPr/>
        </p:nvSpPr>
        <p:spPr>
          <a:xfrm>
            <a:off x="1204615" y="6277570"/>
            <a:ext cx="10377785" cy="461665"/>
          </a:xfrm>
          <a:prstGeom prst="rect">
            <a:avLst/>
          </a:prstGeom>
          <a:noFill/>
        </p:spPr>
        <p:txBody>
          <a:bodyPr wrap="square">
            <a:spAutoFit/>
          </a:bodyPr>
          <a:lstStyle/>
          <a:p>
            <a:pPr algn="ctr" eaLnBrk="1" hangingPunct="1">
              <a:spcAft>
                <a:spcPts val="600"/>
              </a:spcAft>
            </a:pPr>
            <a:r>
              <a:rPr lang="en-US" altLang="en-US" sz="2400" b="1">
                <a:solidFill>
                  <a:schemeClr val="bg1"/>
                </a:solidFill>
                <a:latin typeface="Century Schoolbook" pitchFamily="18" charset="0"/>
                <a:ea typeface="Aharoni" pitchFamily="2" charset="0"/>
                <a:cs typeface="Aharoni" pitchFamily="2" charset="0"/>
              </a:rPr>
              <a:t>Department of  Electronics and Communication Engineering</a:t>
            </a:r>
          </a:p>
        </p:txBody>
      </p:sp>
      <p:sp>
        <p:nvSpPr>
          <p:cNvPr id="8" name="Slide Number Placeholder 7">
            <a:extLst>
              <a:ext uri="{FF2B5EF4-FFF2-40B4-BE49-F238E27FC236}">
                <a16:creationId xmlns:a16="http://schemas.microsoft.com/office/drawing/2014/main" id="{2488E352-EBCF-9B26-08E5-E70B55193C53}"/>
              </a:ext>
            </a:extLst>
          </p:cNvPr>
          <p:cNvSpPr>
            <a:spLocks noGrp="1"/>
          </p:cNvSpPr>
          <p:nvPr>
            <p:ph type="sldNum" sz="quarter" idx="7"/>
          </p:nvPr>
        </p:nvSpPr>
        <p:spPr/>
        <p:txBody>
          <a:bodyPr/>
          <a:lstStyle/>
          <a:p>
            <a:fld id="{B6F15528-21DE-4FAA-801E-634DDDAF4B2B}" type="slidenum">
              <a:rPr lang="en-IN" smtClean="0"/>
              <a:pPr/>
              <a:t>17</a:t>
            </a:fld>
            <a:endParaRPr lang="en-IN"/>
          </a:p>
        </p:txBody>
      </p:sp>
      <p:sp>
        <p:nvSpPr>
          <p:cNvPr id="9" name="Text Placeholder 2">
            <a:extLst>
              <a:ext uri="{FF2B5EF4-FFF2-40B4-BE49-F238E27FC236}">
                <a16:creationId xmlns:a16="http://schemas.microsoft.com/office/drawing/2014/main" id="{87FE4CB6-8D68-1107-3879-4225944C6882}"/>
              </a:ext>
            </a:extLst>
          </p:cNvPr>
          <p:cNvSpPr>
            <a:spLocks noGrp="1"/>
          </p:cNvSpPr>
          <p:nvPr>
            <p:ph type="body" idx="1"/>
          </p:nvPr>
        </p:nvSpPr>
        <p:spPr>
          <a:xfrm>
            <a:off x="526573" y="1153535"/>
            <a:ext cx="10238935" cy="369332"/>
          </a:xfrm>
        </p:spPr>
        <p:txBody>
          <a:bodyPr/>
          <a:lstStyle/>
          <a:p>
            <a:pPr algn="just"/>
            <a:r>
              <a:rPr lang="en-US" sz="2400" b="1" u="sng" dirty="0">
                <a:latin typeface="Times New Roman" panose="02020603050405020304" pitchFamily="18" charset="0"/>
                <a:cs typeface="Times New Roman" panose="02020603050405020304" pitchFamily="18" charset="0"/>
              </a:rPr>
              <a:t>CONFERENCE CERTIFICATE</a:t>
            </a:r>
          </a:p>
        </p:txBody>
      </p:sp>
      <p:pic>
        <p:nvPicPr>
          <p:cNvPr id="1026" name="Picture 2" descr="C:\Users\ADMIN\Downloads\prathyusha newone (2).png">
            <a:extLst>
              <a:ext uri="{FF2B5EF4-FFF2-40B4-BE49-F238E27FC236}">
                <a16:creationId xmlns:a16="http://schemas.microsoft.com/office/drawing/2014/main" id="{71D5AE15-E009-59F0-60ED-A8390E44FC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40" y="11496"/>
            <a:ext cx="807822" cy="807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099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235</TotalTime>
  <Words>1549</Words>
  <Application>Microsoft Office PowerPoint</Application>
  <PresentationFormat>Widescreen</PresentationFormat>
  <Paragraphs>184</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Black</vt:lpstr>
      <vt:lpstr>Calibri</vt:lpstr>
      <vt:lpstr>Calibri (MS)</vt:lpstr>
      <vt:lpstr>Century Schoolbook</vt:lpstr>
      <vt:lpstr>Times New Roman</vt:lpstr>
      <vt:lpstr>Times New Roman Bold</vt:lpstr>
      <vt:lpstr>Trirong Bold</vt:lpstr>
      <vt:lpstr>Office Theme</vt:lpstr>
      <vt:lpstr>PowerPoint Presentation</vt:lpstr>
      <vt:lpstr>PowerPoint Presentation</vt:lpstr>
      <vt:lpstr>PowerPoint Presentation</vt:lpstr>
      <vt:lpstr>PowerPoint Presentation</vt:lpstr>
      <vt:lpstr>PROJECT SCOPE, EXISTING SYSTEM &amp; PROPOSED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&amp; FUTURE WORKS: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sreeman boss</cp:lastModifiedBy>
  <cp:revision>11</cp:revision>
  <dcterms:created xsi:type="dcterms:W3CDTF">2024-04-04T05:09:42Z</dcterms:created>
  <dcterms:modified xsi:type="dcterms:W3CDTF">2026-04-20T15:12:42Z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2024-04-03T00:00:00Z</vt:filetime>
  </property>
  <property fmtid="{D5CDD505-2E9C-101B-9397-08002B2CF9AE}" pid="3" name="Creator">
    <vt:lpwstr>Microsoft® PowerPoint® 2016</vt:lpwstr>
  </property>
  <property fmtid="{D5CDD505-2E9C-101B-9397-08002B2CF9AE}" pid="4" name="LastSaved">
    <vt:filetime>2024-04-04T00:00:00Z</vt:filetime>
  </property>
</Properties>
</file>